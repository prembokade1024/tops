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embeddedFontLst>
    <p:embeddedFont>
      <p:font typeface="Overpass"/>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Overpass-bold.fntdata"/><Relationship Id="rId14" Type="http://schemas.openxmlformats.org/officeDocument/2006/relationships/font" Target="fonts/Overpass-regular.fntdata"/><Relationship Id="rId17" Type="http://schemas.openxmlformats.org/officeDocument/2006/relationships/font" Target="fonts/Overpass-boldItalic.fntdata"/><Relationship Id="rId16" Type="http://schemas.openxmlformats.org/officeDocument/2006/relationships/font" Target="fonts/Overpas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4" Type="http://schemas.openxmlformats.org/officeDocument/2006/relationships/image" Target="../media/image4.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pic>
        <p:nvPicPr>
          <p:cNvPr descr="preencoded.png" id="43" name="Google Shape;43;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10"/>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pic>
        <p:nvPicPr>
          <p:cNvPr descr="preencoded.png" id="47" name="Google Shape;47;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11"/>
          <p:cNvSpPr/>
          <p:nvPr/>
        </p:nvSpPr>
        <p:spPr>
          <a:xfrm>
            <a:off x="0" y="0"/>
            <a:ext cx="14630400" cy="8229600"/>
          </a:xfrm>
          <a:prstGeom prst="rect">
            <a:avLst/>
          </a:prstGeom>
          <a:solidFill>
            <a:srgbClr val="25222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12.png"/><Relationship Id="rId8" Type="http://schemas.openxmlformats.org/officeDocument/2006/relationships/image" Target="../media/image16.png"/></Relationships>
</file>

<file path=ppt/slides/_rels/slide5.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18.png"/></Relationships>
</file>

<file path=ppt/slides/_rels/slide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1.png"/></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9.png"/></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27.png"/><Relationship Id="rId5" Type="http://schemas.openxmlformats.org/officeDocument/2006/relationships/image" Target="../media/image31.png"/><Relationship Id="rId6" Type="http://schemas.openxmlformats.org/officeDocument/2006/relationships/image" Target="../media/image28.png"/></Relationships>
</file>

<file path=ppt/slides/_rels/slide9.xml.rels><?xml version="1.0" encoding="UTF-8"?><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7" name="Google Shape;57;p13"/>
          <p:cNvSpPr/>
          <p:nvPr/>
        </p:nvSpPr>
        <p:spPr>
          <a:xfrm>
            <a:off x="6324124" y="2839283"/>
            <a:ext cx="7468553" cy="1231821"/>
          </a:xfrm>
          <a:prstGeom prst="rect">
            <a:avLst/>
          </a:prstGeom>
          <a:noFill/>
          <a:ln>
            <a:noFill/>
          </a:ln>
        </p:spPr>
        <p:txBody>
          <a:bodyPr anchorCtr="0" anchor="t" bIns="0" lIns="0" spcFirstLastPara="1" rIns="0" wrap="square" tIns="0">
            <a:noAutofit/>
          </a:bodyPr>
          <a:lstStyle/>
          <a:p>
            <a:pPr indent="0" lvl="0" marL="0" marR="0" rtl="0" algn="l">
              <a:lnSpc>
                <a:spcPct val="125974"/>
              </a:lnSpc>
              <a:spcBef>
                <a:spcPts val="0"/>
              </a:spcBef>
              <a:spcAft>
                <a:spcPts val="0"/>
              </a:spcAft>
              <a:buClr>
                <a:srgbClr val="FFFFFF"/>
              </a:buClr>
              <a:buSzPts val="3850"/>
              <a:buFont typeface="Overpass"/>
              <a:buNone/>
            </a:pPr>
            <a:r>
              <a:rPr b="1" i="0" lang="en-US" sz="3850" u="none" cap="none" strike="noStrike">
                <a:solidFill>
                  <a:srgbClr val="FFFFFF"/>
                </a:solidFill>
                <a:latin typeface="Overpass"/>
                <a:ea typeface="Overpass"/>
                <a:cs typeface="Overpass"/>
                <a:sym typeface="Overpass"/>
              </a:rPr>
              <a:t>Data Science in Action: Transforming Industries</a:t>
            </a:r>
            <a:endParaRPr b="0" i="0" sz="3850" u="none" cap="none" strike="noStrike"/>
          </a:p>
        </p:txBody>
      </p:sp>
      <p:sp>
        <p:nvSpPr>
          <p:cNvPr id="58" name="Google Shape;58;p13"/>
          <p:cNvSpPr/>
          <p:nvPr/>
        </p:nvSpPr>
        <p:spPr>
          <a:xfrm>
            <a:off x="6324124" y="4385191"/>
            <a:ext cx="7468553" cy="1005126"/>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5E0DF"/>
              </a:buClr>
              <a:buSzPts val="1600"/>
              <a:buFont typeface="Overpass"/>
              <a:buNone/>
            </a:pPr>
            <a:r>
              <a:rPr b="0" i="0" lang="en-US" sz="1600" u="none" cap="none" strike="noStrike">
                <a:solidFill>
                  <a:srgbClr val="E5E0DF"/>
                </a:solidFill>
                <a:latin typeface="Overpass"/>
                <a:ea typeface="Overpass"/>
                <a:cs typeface="Overpass"/>
                <a:sym typeface="Overpass"/>
              </a:rPr>
              <a:t>From life-saving medical diagnostics to financial fraud detection, data science is revolutionizing how organizations operate, make decisions, and create value across every major industry sector.</a:t>
            </a:r>
            <a:endParaRPr b="0" i="0" sz="16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759023" y="827127"/>
            <a:ext cx="9752409" cy="558046"/>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FFFFFF"/>
              </a:buClr>
              <a:buSzPts val="3500"/>
              <a:buFont typeface="Overpass"/>
              <a:buNone/>
            </a:pPr>
            <a:r>
              <a:rPr b="1" i="0" lang="en-US" sz="3500" u="none" cap="none" strike="noStrike">
                <a:solidFill>
                  <a:srgbClr val="FFFFFF"/>
                </a:solidFill>
                <a:latin typeface="Overpass"/>
                <a:ea typeface="Overpass"/>
                <a:cs typeface="Overpass"/>
                <a:sym typeface="Overpass"/>
              </a:rPr>
              <a:t>The Data Science Revolution: Beyond the Hype</a:t>
            </a:r>
            <a:endParaRPr b="0" i="0" sz="3500" u="none" cap="none" strike="noStrike"/>
          </a:p>
        </p:txBody>
      </p:sp>
      <p:sp>
        <p:nvSpPr>
          <p:cNvPr id="65" name="Google Shape;65;p14"/>
          <p:cNvSpPr/>
          <p:nvPr/>
        </p:nvSpPr>
        <p:spPr>
          <a:xfrm>
            <a:off x="759023" y="1729026"/>
            <a:ext cx="13112353" cy="867966"/>
          </a:xfrm>
          <a:prstGeom prst="rect">
            <a:avLst/>
          </a:prstGeom>
          <a:noFill/>
          <a:ln>
            <a:noFill/>
          </a:ln>
        </p:spPr>
        <p:txBody>
          <a:bodyPr anchorCtr="0" anchor="t" bIns="0" lIns="0" spcFirstLastPara="1" rIns="0" wrap="square" tIns="0">
            <a:noAutofit/>
          </a:bodyPr>
          <a:lstStyle/>
          <a:p>
            <a:pPr indent="0" lvl="0" marL="0" marR="0" rtl="0" algn="l">
              <a:lnSpc>
                <a:spcPct val="155172"/>
              </a:lnSpc>
              <a:spcBef>
                <a:spcPts val="0"/>
              </a:spcBef>
              <a:spcAft>
                <a:spcPts val="0"/>
              </a:spcAft>
              <a:buClr>
                <a:srgbClr val="E5E0DF"/>
              </a:buClr>
              <a:buSzPts val="1450"/>
              <a:buFont typeface="Overpass"/>
              <a:buNone/>
            </a:pPr>
            <a:r>
              <a:rPr b="0" i="0" lang="en-US" sz="1450" u="none" cap="none" strike="noStrike">
                <a:solidFill>
                  <a:srgbClr val="E5E0DF"/>
                </a:solidFill>
                <a:latin typeface="Overpass"/>
                <a:ea typeface="Overpass"/>
                <a:cs typeface="Overpass"/>
                <a:sym typeface="Overpass"/>
              </a:rPr>
              <a:t>Data science has evolved from an academic curiosity into a mission-critical business capability that's delivering measurable, quantifiable results across every industry. The transformation isn't theoretical—it's happening now, with organizations leveraging sophisticated analytical techniques to drive competitive advantage and operational excellence.</a:t>
            </a:r>
            <a:endParaRPr b="0" i="0" sz="1450" u="none" cap="none" strike="noStrike"/>
          </a:p>
        </p:txBody>
      </p:sp>
      <p:sp>
        <p:nvSpPr>
          <p:cNvPr id="66" name="Google Shape;66;p14"/>
          <p:cNvSpPr/>
          <p:nvPr/>
        </p:nvSpPr>
        <p:spPr>
          <a:xfrm>
            <a:off x="759023" y="2885123"/>
            <a:ext cx="4227433" cy="6261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4900"/>
              <a:buFont typeface="Overpass"/>
              <a:buNone/>
            </a:pPr>
            <a:r>
              <a:rPr b="1" i="0" lang="en-US" sz="4900" u="none" cap="none" strike="noStrike">
                <a:solidFill>
                  <a:srgbClr val="E5E0DF"/>
                </a:solidFill>
                <a:latin typeface="Overpass"/>
                <a:ea typeface="Overpass"/>
                <a:cs typeface="Overpass"/>
                <a:sym typeface="Overpass"/>
              </a:rPr>
              <a:t>10-20%</a:t>
            </a:r>
            <a:endParaRPr b="0" i="0" sz="4900" u="none" cap="none" strike="noStrike"/>
          </a:p>
        </p:txBody>
      </p:sp>
      <p:sp>
        <p:nvSpPr>
          <p:cNvPr id="67" name="Google Shape;67;p14"/>
          <p:cNvSpPr/>
          <p:nvPr/>
        </p:nvSpPr>
        <p:spPr>
          <a:xfrm>
            <a:off x="1615678" y="3734991"/>
            <a:ext cx="2514005" cy="278963"/>
          </a:xfrm>
          <a:prstGeom prst="rect">
            <a:avLst/>
          </a:prstGeom>
          <a:noFill/>
          <a:ln>
            <a:noFill/>
          </a:ln>
        </p:spPr>
        <p:txBody>
          <a:bodyPr anchorCtr="0" anchor="t" bIns="0" lIns="0" spcFirstLastPara="1" rIns="0" wrap="square" tIns="0">
            <a:noAutofit/>
          </a:bodyPr>
          <a:lstStyle/>
          <a:p>
            <a:pPr indent="0" lvl="0" marL="0" marR="0" rtl="0" algn="ctr">
              <a:lnSpc>
                <a:spcPct val="122857"/>
              </a:lnSpc>
              <a:spcBef>
                <a:spcPts val="0"/>
              </a:spcBef>
              <a:spcAft>
                <a:spcPts val="0"/>
              </a:spcAft>
              <a:buClr>
                <a:srgbClr val="E5E0DF"/>
              </a:buClr>
              <a:buSzPts val="1750"/>
              <a:buFont typeface="Overpass"/>
              <a:buNone/>
            </a:pPr>
            <a:r>
              <a:rPr b="1" i="0" lang="en-US" sz="1750" u="none" cap="none" strike="noStrike">
                <a:solidFill>
                  <a:srgbClr val="E5E0DF"/>
                </a:solidFill>
                <a:latin typeface="Overpass"/>
                <a:ea typeface="Overpass"/>
                <a:cs typeface="Overpass"/>
                <a:sym typeface="Overpass"/>
              </a:rPr>
              <a:t>Prediction Improvement</a:t>
            </a:r>
            <a:endParaRPr b="0" i="0" sz="1750" u="none" cap="none" strike="noStrike"/>
          </a:p>
        </p:txBody>
      </p:sp>
      <p:sp>
        <p:nvSpPr>
          <p:cNvPr id="68" name="Google Shape;68;p14"/>
          <p:cNvSpPr/>
          <p:nvPr/>
        </p:nvSpPr>
        <p:spPr>
          <a:xfrm>
            <a:off x="759023" y="4117062"/>
            <a:ext cx="4227433" cy="578644"/>
          </a:xfrm>
          <a:prstGeom prst="rect">
            <a:avLst/>
          </a:prstGeom>
          <a:noFill/>
          <a:ln>
            <a:noFill/>
          </a:ln>
        </p:spPr>
        <p:txBody>
          <a:bodyPr anchorCtr="0" anchor="t" bIns="0" lIns="0" spcFirstLastPara="1" rIns="0" wrap="square" tIns="0">
            <a:noAutofit/>
          </a:bodyPr>
          <a:lstStyle/>
          <a:p>
            <a:pPr indent="0" lvl="0" marL="0" marR="0" rtl="0" algn="ctr">
              <a:lnSpc>
                <a:spcPct val="155172"/>
              </a:lnSpc>
              <a:spcBef>
                <a:spcPts val="0"/>
              </a:spcBef>
              <a:spcAft>
                <a:spcPts val="0"/>
              </a:spcAft>
              <a:buClr>
                <a:srgbClr val="E5E0DF"/>
              </a:buClr>
              <a:buSzPts val="1450"/>
              <a:buFont typeface="Overpass"/>
              <a:buNone/>
            </a:pPr>
            <a:r>
              <a:rPr b="0" i="0" lang="en-US" sz="1450" u="none" cap="none" strike="noStrike">
                <a:solidFill>
                  <a:srgbClr val="E5E0DF"/>
                </a:solidFill>
                <a:latin typeface="Overpass"/>
                <a:ea typeface="Overpass"/>
                <a:cs typeface="Overpass"/>
                <a:sym typeface="Overpass"/>
              </a:rPr>
              <a:t>Enhanced demand forecasting accuracy delivers tangible business benefits</a:t>
            </a:r>
            <a:endParaRPr b="0" i="0" sz="1450" u="none" cap="none" strike="noStrike"/>
          </a:p>
        </p:txBody>
      </p:sp>
      <p:sp>
        <p:nvSpPr>
          <p:cNvPr id="69" name="Google Shape;69;p14"/>
          <p:cNvSpPr/>
          <p:nvPr/>
        </p:nvSpPr>
        <p:spPr>
          <a:xfrm>
            <a:off x="5201364" y="2885123"/>
            <a:ext cx="4227552" cy="6261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4900"/>
              <a:buFont typeface="Overpass"/>
              <a:buNone/>
            </a:pPr>
            <a:r>
              <a:rPr b="1" i="0" lang="en-US" sz="4900" u="none" cap="none" strike="noStrike">
                <a:solidFill>
                  <a:srgbClr val="E5E0DF"/>
                </a:solidFill>
                <a:latin typeface="Overpass"/>
                <a:ea typeface="Overpass"/>
                <a:cs typeface="Overpass"/>
                <a:sym typeface="Overpass"/>
              </a:rPr>
              <a:t>5%</a:t>
            </a:r>
            <a:endParaRPr b="0" i="0" sz="4900" u="none" cap="none" strike="noStrike"/>
          </a:p>
        </p:txBody>
      </p:sp>
      <p:sp>
        <p:nvSpPr>
          <p:cNvPr id="70" name="Google Shape;70;p14"/>
          <p:cNvSpPr/>
          <p:nvPr/>
        </p:nvSpPr>
        <p:spPr>
          <a:xfrm>
            <a:off x="6198751" y="3734991"/>
            <a:ext cx="2232660" cy="278963"/>
          </a:xfrm>
          <a:prstGeom prst="rect">
            <a:avLst/>
          </a:prstGeom>
          <a:noFill/>
          <a:ln>
            <a:noFill/>
          </a:ln>
        </p:spPr>
        <p:txBody>
          <a:bodyPr anchorCtr="0" anchor="t" bIns="0" lIns="0" spcFirstLastPara="1" rIns="0" wrap="square" tIns="0">
            <a:noAutofit/>
          </a:bodyPr>
          <a:lstStyle/>
          <a:p>
            <a:pPr indent="0" lvl="0" marL="0" marR="0" rtl="0" algn="ctr">
              <a:lnSpc>
                <a:spcPct val="122857"/>
              </a:lnSpc>
              <a:spcBef>
                <a:spcPts val="0"/>
              </a:spcBef>
              <a:spcAft>
                <a:spcPts val="0"/>
              </a:spcAft>
              <a:buClr>
                <a:srgbClr val="E5E0DF"/>
              </a:buClr>
              <a:buSzPts val="1750"/>
              <a:buFont typeface="Overpass"/>
              <a:buNone/>
            </a:pPr>
            <a:r>
              <a:rPr b="1" i="0" lang="en-US" sz="1750" u="none" cap="none" strike="noStrike">
                <a:solidFill>
                  <a:srgbClr val="E5E0DF"/>
                </a:solidFill>
                <a:latin typeface="Overpass"/>
                <a:ea typeface="Overpass"/>
                <a:cs typeface="Overpass"/>
                <a:sym typeface="Overpass"/>
              </a:rPr>
              <a:t>Cost Reduction</a:t>
            </a:r>
            <a:endParaRPr b="0" i="0" sz="1750" u="none" cap="none" strike="noStrike"/>
          </a:p>
        </p:txBody>
      </p:sp>
      <p:sp>
        <p:nvSpPr>
          <p:cNvPr id="71" name="Google Shape;71;p14"/>
          <p:cNvSpPr/>
          <p:nvPr/>
        </p:nvSpPr>
        <p:spPr>
          <a:xfrm>
            <a:off x="5201364" y="4117062"/>
            <a:ext cx="4227552" cy="578644"/>
          </a:xfrm>
          <a:prstGeom prst="rect">
            <a:avLst/>
          </a:prstGeom>
          <a:noFill/>
          <a:ln>
            <a:noFill/>
          </a:ln>
        </p:spPr>
        <p:txBody>
          <a:bodyPr anchorCtr="0" anchor="t" bIns="0" lIns="0" spcFirstLastPara="1" rIns="0" wrap="square" tIns="0">
            <a:noAutofit/>
          </a:bodyPr>
          <a:lstStyle/>
          <a:p>
            <a:pPr indent="0" lvl="0" marL="0" marR="0" rtl="0" algn="ctr">
              <a:lnSpc>
                <a:spcPct val="155172"/>
              </a:lnSpc>
              <a:spcBef>
                <a:spcPts val="0"/>
              </a:spcBef>
              <a:spcAft>
                <a:spcPts val="0"/>
              </a:spcAft>
              <a:buClr>
                <a:srgbClr val="E5E0DF"/>
              </a:buClr>
              <a:buSzPts val="1450"/>
              <a:buFont typeface="Overpass"/>
              <a:buNone/>
            </a:pPr>
            <a:r>
              <a:rPr b="0" i="0" lang="en-US" sz="1450" u="none" cap="none" strike="noStrike">
                <a:solidFill>
                  <a:srgbClr val="E5E0DF"/>
                </a:solidFill>
                <a:latin typeface="Overpass"/>
                <a:ea typeface="Overpass"/>
                <a:cs typeface="Overpass"/>
                <a:sym typeface="Overpass"/>
              </a:rPr>
              <a:t>Inventory optimization leading to significant operational savings</a:t>
            </a:r>
            <a:endParaRPr b="0" i="0" sz="1450" u="none" cap="none" strike="noStrike"/>
          </a:p>
        </p:txBody>
      </p:sp>
      <p:sp>
        <p:nvSpPr>
          <p:cNvPr id="72" name="Google Shape;72;p14"/>
          <p:cNvSpPr/>
          <p:nvPr/>
        </p:nvSpPr>
        <p:spPr>
          <a:xfrm>
            <a:off x="9643824" y="2885123"/>
            <a:ext cx="4227552" cy="6261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4900"/>
              <a:buFont typeface="Overpass"/>
              <a:buNone/>
            </a:pPr>
            <a:r>
              <a:rPr b="1" i="0" lang="en-US" sz="4900" u="none" cap="none" strike="noStrike">
                <a:solidFill>
                  <a:srgbClr val="E5E0DF"/>
                </a:solidFill>
                <a:latin typeface="Overpass"/>
                <a:ea typeface="Overpass"/>
                <a:cs typeface="Overpass"/>
                <a:sym typeface="Overpass"/>
              </a:rPr>
              <a:t>2-3%</a:t>
            </a:r>
            <a:endParaRPr b="0" i="0" sz="4900" u="none" cap="none" strike="noStrike"/>
          </a:p>
        </p:txBody>
      </p:sp>
      <p:sp>
        <p:nvSpPr>
          <p:cNvPr id="73" name="Google Shape;73;p14"/>
          <p:cNvSpPr/>
          <p:nvPr/>
        </p:nvSpPr>
        <p:spPr>
          <a:xfrm>
            <a:off x="10641211" y="3734991"/>
            <a:ext cx="2232660" cy="278963"/>
          </a:xfrm>
          <a:prstGeom prst="rect">
            <a:avLst/>
          </a:prstGeom>
          <a:noFill/>
          <a:ln>
            <a:noFill/>
          </a:ln>
        </p:spPr>
        <p:txBody>
          <a:bodyPr anchorCtr="0" anchor="t" bIns="0" lIns="0" spcFirstLastPara="1" rIns="0" wrap="square" tIns="0">
            <a:noAutofit/>
          </a:bodyPr>
          <a:lstStyle/>
          <a:p>
            <a:pPr indent="0" lvl="0" marL="0" marR="0" rtl="0" algn="ctr">
              <a:lnSpc>
                <a:spcPct val="122857"/>
              </a:lnSpc>
              <a:spcBef>
                <a:spcPts val="0"/>
              </a:spcBef>
              <a:spcAft>
                <a:spcPts val="0"/>
              </a:spcAft>
              <a:buClr>
                <a:srgbClr val="E5E0DF"/>
              </a:buClr>
              <a:buSzPts val="1750"/>
              <a:buFont typeface="Overpass"/>
              <a:buNone/>
            </a:pPr>
            <a:r>
              <a:rPr b="1" i="0" lang="en-US" sz="1750" u="none" cap="none" strike="noStrike">
                <a:solidFill>
                  <a:srgbClr val="E5E0DF"/>
                </a:solidFill>
                <a:latin typeface="Overpass"/>
                <a:ea typeface="Overpass"/>
                <a:cs typeface="Overpass"/>
                <a:sym typeface="Overpass"/>
              </a:rPr>
              <a:t>Revenue Increase</a:t>
            </a:r>
            <a:endParaRPr b="0" i="0" sz="1750" u="none" cap="none" strike="noStrike"/>
          </a:p>
        </p:txBody>
      </p:sp>
      <p:sp>
        <p:nvSpPr>
          <p:cNvPr id="74" name="Google Shape;74;p14"/>
          <p:cNvSpPr/>
          <p:nvPr/>
        </p:nvSpPr>
        <p:spPr>
          <a:xfrm>
            <a:off x="9643824" y="4117062"/>
            <a:ext cx="4227552" cy="578644"/>
          </a:xfrm>
          <a:prstGeom prst="rect">
            <a:avLst/>
          </a:prstGeom>
          <a:noFill/>
          <a:ln>
            <a:noFill/>
          </a:ln>
        </p:spPr>
        <p:txBody>
          <a:bodyPr anchorCtr="0" anchor="t" bIns="0" lIns="0" spcFirstLastPara="1" rIns="0" wrap="square" tIns="0">
            <a:noAutofit/>
          </a:bodyPr>
          <a:lstStyle/>
          <a:p>
            <a:pPr indent="0" lvl="0" marL="0" marR="0" rtl="0" algn="ctr">
              <a:lnSpc>
                <a:spcPct val="155172"/>
              </a:lnSpc>
              <a:spcBef>
                <a:spcPts val="0"/>
              </a:spcBef>
              <a:spcAft>
                <a:spcPts val="0"/>
              </a:spcAft>
              <a:buClr>
                <a:srgbClr val="E5E0DF"/>
              </a:buClr>
              <a:buSzPts val="1450"/>
              <a:buFont typeface="Overpass"/>
              <a:buNone/>
            </a:pPr>
            <a:r>
              <a:rPr b="0" i="0" lang="en-US" sz="1450" u="none" cap="none" strike="noStrike">
                <a:solidFill>
                  <a:srgbClr val="E5E0DF"/>
                </a:solidFill>
                <a:latin typeface="Overpass"/>
                <a:ea typeface="Overpass"/>
                <a:cs typeface="Overpass"/>
                <a:sym typeface="Overpass"/>
              </a:rPr>
              <a:t>Direct impact on top-line growth from better predictions</a:t>
            </a:r>
            <a:endParaRPr b="0" i="0" sz="1450" u="none" cap="none" strike="noStrike"/>
          </a:p>
        </p:txBody>
      </p:sp>
      <p:sp>
        <p:nvSpPr>
          <p:cNvPr id="75" name="Google Shape;75;p14"/>
          <p:cNvSpPr/>
          <p:nvPr/>
        </p:nvSpPr>
        <p:spPr>
          <a:xfrm>
            <a:off x="759023" y="5060990"/>
            <a:ext cx="4368522" cy="278963"/>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FFFFF"/>
              </a:buClr>
              <a:buSzPts val="1750"/>
              <a:buFont typeface="Overpass"/>
              <a:buNone/>
            </a:pPr>
            <a:r>
              <a:rPr b="1" i="0" lang="en-US" sz="1750" u="none" cap="none" strike="noStrike">
                <a:solidFill>
                  <a:srgbClr val="FFFFFF"/>
                </a:solidFill>
                <a:latin typeface="Overpass"/>
                <a:ea typeface="Overpass"/>
                <a:cs typeface="Overpass"/>
                <a:sym typeface="Overpass"/>
              </a:rPr>
              <a:t>Modern Infrastructure Empowers Analysis</a:t>
            </a:r>
            <a:endParaRPr b="0" i="0" sz="1750" u="none" cap="none" strike="noStrike"/>
          </a:p>
        </p:txBody>
      </p:sp>
      <p:sp>
        <p:nvSpPr>
          <p:cNvPr id="76" name="Google Shape;76;p14"/>
          <p:cNvSpPr/>
          <p:nvPr/>
        </p:nvSpPr>
        <p:spPr>
          <a:xfrm>
            <a:off x="759023" y="5511879"/>
            <a:ext cx="6324719" cy="1735931"/>
          </a:xfrm>
          <a:prstGeom prst="rect">
            <a:avLst/>
          </a:prstGeom>
          <a:noFill/>
          <a:ln>
            <a:noFill/>
          </a:ln>
        </p:spPr>
        <p:txBody>
          <a:bodyPr anchorCtr="0" anchor="t" bIns="0" lIns="0" spcFirstLastPara="1" rIns="0" wrap="square" tIns="0">
            <a:noAutofit/>
          </a:bodyPr>
          <a:lstStyle/>
          <a:p>
            <a:pPr indent="0" lvl="0" marL="0" marR="0" rtl="0" algn="l">
              <a:lnSpc>
                <a:spcPct val="155172"/>
              </a:lnSpc>
              <a:spcBef>
                <a:spcPts val="0"/>
              </a:spcBef>
              <a:spcAft>
                <a:spcPts val="0"/>
              </a:spcAft>
              <a:buClr>
                <a:srgbClr val="E5E0DF"/>
              </a:buClr>
              <a:buSzPts val="1450"/>
              <a:buFont typeface="Overpass"/>
              <a:buNone/>
            </a:pPr>
            <a:r>
              <a:rPr b="0" i="0" lang="en-US" sz="1450" u="none" cap="none" strike="noStrike">
                <a:solidFill>
                  <a:srgbClr val="E5E0DF"/>
                </a:solidFill>
                <a:latin typeface="Overpass"/>
                <a:ea typeface="Overpass"/>
                <a:cs typeface="Overpass"/>
                <a:sym typeface="Overpass"/>
              </a:rPr>
              <a:t>Contemporary data platforms built on technologies like Apache Spark and modern data lakehouses enable organizations to work directly with raw data at the transaction level. This fine-grained access means analysts can move from high-level aggregated reports to individual customer interactions, equipment sensor readings, or medical patient records—all without performance bottlenecks.</a:t>
            </a:r>
            <a:endParaRPr b="0" i="0" sz="1450" u="none" cap="none" strike="noStrike"/>
          </a:p>
        </p:txBody>
      </p:sp>
      <p:sp>
        <p:nvSpPr>
          <p:cNvPr id="77" name="Google Shape;77;p14"/>
          <p:cNvSpPr/>
          <p:nvPr/>
        </p:nvSpPr>
        <p:spPr>
          <a:xfrm>
            <a:off x="7554278" y="5060990"/>
            <a:ext cx="2973348" cy="278963"/>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FFFFF"/>
              </a:buClr>
              <a:buSzPts val="1750"/>
              <a:buFont typeface="Overpass"/>
              <a:buNone/>
            </a:pPr>
            <a:r>
              <a:rPr b="1" i="0" lang="en-US" sz="1750" u="none" cap="none" strike="noStrike">
                <a:solidFill>
                  <a:srgbClr val="FFFFFF"/>
                </a:solidFill>
                <a:latin typeface="Overpass"/>
                <a:ea typeface="Overpass"/>
                <a:cs typeface="Overpass"/>
                <a:sym typeface="Overpass"/>
              </a:rPr>
              <a:t>Measurable Business Impact</a:t>
            </a:r>
            <a:endParaRPr b="0" i="0" sz="1750" u="none" cap="none" strike="noStrike"/>
          </a:p>
        </p:txBody>
      </p:sp>
      <p:sp>
        <p:nvSpPr>
          <p:cNvPr id="78" name="Google Shape;78;p14"/>
          <p:cNvSpPr/>
          <p:nvPr/>
        </p:nvSpPr>
        <p:spPr>
          <a:xfrm>
            <a:off x="7554278" y="5511879"/>
            <a:ext cx="6324719" cy="1735931"/>
          </a:xfrm>
          <a:prstGeom prst="rect">
            <a:avLst/>
          </a:prstGeom>
          <a:noFill/>
          <a:ln>
            <a:noFill/>
          </a:ln>
        </p:spPr>
        <p:txBody>
          <a:bodyPr anchorCtr="0" anchor="t" bIns="0" lIns="0" spcFirstLastPara="1" rIns="0" wrap="square" tIns="0">
            <a:noAutofit/>
          </a:bodyPr>
          <a:lstStyle/>
          <a:p>
            <a:pPr indent="0" lvl="0" marL="0" marR="0" rtl="0" algn="l">
              <a:lnSpc>
                <a:spcPct val="155172"/>
              </a:lnSpc>
              <a:spcBef>
                <a:spcPts val="0"/>
              </a:spcBef>
              <a:spcAft>
                <a:spcPts val="0"/>
              </a:spcAft>
              <a:buClr>
                <a:srgbClr val="E5E0DF"/>
              </a:buClr>
              <a:buSzPts val="1450"/>
              <a:buFont typeface="Overpass"/>
              <a:buNone/>
            </a:pPr>
            <a:r>
              <a:rPr b="0" i="0" lang="en-US" sz="1450" u="none" cap="none" strike="noStrike">
                <a:solidFill>
                  <a:srgbClr val="E5E0DF"/>
                </a:solidFill>
                <a:latin typeface="Overpass"/>
                <a:ea typeface="Overpass"/>
                <a:cs typeface="Overpass"/>
                <a:sym typeface="Overpass"/>
              </a:rPr>
              <a:t>According to McKinsey Global Institute research, organizations that successfully implement data science initiatives see consistent improvements: a 10-20% improvement in demand prediction accuracy translates directly to 5% reductions in inventory holding costs and 2-3% increases in revenue. These aren't aspirational numbers—they're documented results from real implementations.</a:t>
            </a:r>
            <a:endParaRPr b="0" i="0" sz="14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p:nvPr/>
        </p:nvSpPr>
        <p:spPr>
          <a:xfrm>
            <a:off x="1509712" y="1371481"/>
            <a:ext cx="5949672" cy="46017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FFFFF"/>
              </a:buClr>
              <a:buSzPts val="2850"/>
              <a:buFont typeface="Overpass"/>
              <a:buNone/>
            </a:pPr>
            <a:r>
              <a:rPr b="1" i="0" lang="en-US" sz="2850" u="none" cap="none" strike="noStrike">
                <a:solidFill>
                  <a:srgbClr val="FFFFFF"/>
                </a:solidFill>
                <a:latin typeface="Overpass"/>
                <a:ea typeface="Overpass"/>
                <a:cs typeface="Overpass"/>
                <a:sym typeface="Overpass"/>
              </a:rPr>
              <a:t>Healthcare: Saving Lives with Data</a:t>
            </a:r>
            <a:endParaRPr b="0" i="0" sz="2850" u="none" cap="none" strike="noStrike"/>
          </a:p>
        </p:txBody>
      </p:sp>
      <p:sp>
        <p:nvSpPr>
          <p:cNvPr id="85" name="Google Shape;85;p15"/>
          <p:cNvSpPr/>
          <p:nvPr/>
        </p:nvSpPr>
        <p:spPr>
          <a:xfrm>
            <a:off x="1509712" y="2143363"/>
            <a:ext cx="2793206" cy="51625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4050"/>
              <a:buFont typeface="Overpass"/>
              <a:buNone/>
            </a:pPr>
            <a:r>
              <a:rPr b="1" i="0" lang="en-US" sz="4050" u="none" cap="none" strike="noStrike">
                <a:solidFill>
                  <a:srgbClr val="E5E0DF"/>
                </a:solidFill>
                <a:latin typeface="Overpass"/>
                <a:ea typeface="Overpass"/>
                <a:cs typeface="Overpass"/>
                <a:sym typeface="Overpass"/>
              </a:rPr>
              <a:t>$188B</a:t>
            </a:r>
            <a:endParaRPr b="0" i="0" sz="4050" u="none" cap="none" strike="noStrike"/>
          </a:p>
        </p:txBody>
      </p:sp>
      <p:sp>
        <p:nvSpPr>
          <p:cNvPr id="86" name="Google Shape;86;p15"/>
          <p:cNvSpPr/>
          <p:nvPr/>
        </p:nvSpPr>
        <p:spPr>
          <a:xfrm>
            <a:off x="1986082" y="2825353"/>
            <a:ext cx="1840468" cy="230029"/>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E5E0DF"/>
              </a:buClr>
              <a:buSzPts val="1400"/>
              <a:buFont typeface="Overpass"/>
              <a:buNone/>
            </a:pPr>
            <a:r>
              <a:rPr b="1" i="0" lang="en-US" sz="1400" u="none" cap="none" strike="noStrike">
                <a:solidFill>
                  <a:srgbClr val="E5E0DF"/>
                </a:solidFill>
                <a:latin typeface="Overpass"/>
                <a:ea typeface="Overpass"/>
                <a:cs typeface="Overpass"/>
                <a:sym typeface="Overpass"/>
              </a:rPr>
              <a:t>Market Size 2028</a:t>
            </a:r>
            <a:endParaRPr b="0" i="0" sz="1400" u="none" cap="none" strike="noStrike"/>
          </a:p>
        </p:txBody>
      </p:sp>
      <p:sp>
        <p:nvSpPr>
          <p:cNvPr id="87" name="Google Shape;87;p15"/>
          <p:cNvSpPr/>
          <p:nvPr/>
        </p:nvSpPr>
        <p:spPr>
          <a:xfrm>
            <a:off x="1509712" y="3125391"/>
            <a:ext cx="2793206" cy="218599"/>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Projected AI in healthcare market value</a:t>
            </a:r>
            <a:endParaRPr b="0" i="0" sz="1200" u="none" cap="none" strike="noStrike"/>
          </a:p>
        </p:txBody>
      </p:sp>
      <p:sp>
        <p:nvSpPr>
          <p:cNvPr id="88" name="Google Shape;88;p15"/>
          <p:cNvSpPr/>
          <p:nvPr/>
        </p:nvSpPr>
        <p:spPr>
          <a:xfrm>
            <a:off x="4448889" y="2143363"/>
            <a:ext cx="2793206" cy="51625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4050"/>
              <a:buFont typeface="Overpass"/>
              <a:buNone/>
            </a:pPr>
            <a:r>
              <a:rPr b="1" i="0" lang="en-US" sz="4050" u="none" cap="none" strike="noStrike">
                <a:solidFill>
                  <a:srgbClr val="E5E0DF"/>
                </a:solidFill>
                <a:latin typeface="Overpass"/>
                <a:ea typeface="Overpass"/>
                <a:cs typeface="Overpass"/>
                <a:sym typeface="Overpass"/>
              </a:rPr>
              <a:t>$26.5B</a:t>
            </a:r>
            <a:endParaRPr b="0" i="0" sz="4050" u="none" cap="none" strike="noStrike"/>
          </a:p>
        </p:txBody>
      </p:sp>
      <p:sp>
        <p:nvSpPr>
          <p:cNvPr id="89" name="Google Shape;89;p15"/>
          <p:cNvSpPr/>
          <p:nvPr/>
        </p:nvSpPr>
        <p:spPr>
          <a:xfrm>
            <a:off x="4925258" y="2825353"/>
            <a:ext cx="1840468" cy="230029"/>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E5E0DF"/>
              </a:buClr>
              <a:buSzPts val="1400"/>
              <a:buFont typeface="Overpass"/>
              <a:buNone/>
            </a:pPr>
            <a:r>
              <a:rPr b="1" i="0" lang="en-US" sz="1400" u="none" cap="none" strike="noStrike">
                <a:solidFill>
                  <a:srgbClr val="E5E0DF"/>
                </a:solidFill>
                <a:latin typeface="Overpass"/>
                <a:ea typeface="Overpass"/>
                <a:cs typeface="Overpass"/>
                <a:sym typeface="Overpass"/>
              </a:rPr>
              <a:t>Current Market 2024</a:t>
            </a:r>
            <a:endParaRPr b="0" i="0" sz="1400" u="none" cap="none" strike="noStrike"/>
          </a:p>
        </p:txBody>
      </p:sp>
      <p:sp>
        <p:nvSpPr>
          <p:cNvPr id="90" name="Google Shape;90;p15"/>
          <p:cNvSpPr/>
          <p:nvPr/>
        </p:nvSpPr>
        <p:spPr>
          <a:xfrm>
            <a:off x="4448889" y="3125391"/>
            <a:ext cx="2793206" cy="218599"/>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Baseline for explosive growth trajectory</a:t>
            </a:r>
            <a:endParaRPr b="0" i="0" sz="1200" u="none" cap="none" strike="noStrike"/>
          </a:p>
        </p:txBody>
      </p:sp>
      <p:sp>
        <p:nvSpPr>
          <p:cNvPr id="91" name="Google Shape;91;p15"/>
          <p:cNvSpPr/>
          <p:nvPr/>
        </p:nvSpPr>
        <p:spPr>
          <a:xfrm>
            <a:off x="7388066" y="2143363"/>
            <a:ext cx="2793206" cy="51625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4050"/>
              <a:buFont typeface="Overpass"/>
              <a:buNone/>
            </a:pPr>
            <a:r>
              <a:rPr b="1" i="0" lang="en-US" sz="4050" u="none" cap="none" strike="noStrike">
                <a:solidFill>
                  <a:srgbClr val="E5E0DF"/>
                </a:solidFill>
                <a:latin typeface="Overpass"/>
                <a:ea typeface="Overpass"/>
                <a:cs typeface="Overpass"/>
                <a:sym typeface="Overpass"/>
              </a:rPr>
              <a:t>200</a:t>
            </a:r>
            <a:endParaRPr b="0" i="0" sz="4050" u="none" cap="none" strike="noStrike"/>
          </a:p>
        </p:txBody>
      </p:sp>
      <p:sp>
        <p:nvSpPr>
          <p:cNvPr id="92" name="Google Shape;92;p15"/>
          <p:cNvSpPr/>
          <p:nvPr/>
        </p:nvSpPr>
        <p:spPr>
          <a:xfrm>
            <a:off x="7400330" y="2825353"/>
            <a:ext cx="2768679" cy="230029"/>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E5E0DF"/>
              </a:buClr>
              <a:buSzPts val="1400"/>
              <a:buFont typeface="Overpass"/>
              <a:buNone/>
            </a:pPr>
            <a:r>
              <a:rPr b="1" i="0" lang="en-US" sz="1400" u="none" cap="none" strike="noStrike">
                <a:solidFill>
                  <a:srgbClr val="E5E0DF"/>
                </a:solidFill>
                <a:latin typeface="Overpass"/>
                <a:ea typeface="Overpass"/>
                <a:cs typeface="Overpass"/>
                <a:sym typeface="Overpass"/>
              </a:rPr>
              <a:t>Patient Readmissions Prevented</a:t>
            </a:r>
            <a:endParaRPr b="0" i="0" sz="1400" u="none" cap="none" strike="noStrike"/>
          </a:p>
        </p:txBody>
      </p:sp>
      <p:sp>
        <p:nvSpPr>
          <p:cNvPr id="93" name="Google Shape;93;p15"/>
          <p:cNvSpPr/>
          <p:nvPr/>
        </p:nvSpPr>
        <p:spPr>
          <a:xfrm>
            <a:off x="7388066" y="3125391"/>
            <a:ext cx="2793206" cy="218599"/>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Real impact on patient outcomes</a:t>
            </a:r>
            <a:endParaRPr b="0" i="0" sz="1200" u="none" cap="none" strike="noStrike"/>
          </a:p>
        </p:txBody>
      </p:sp>
      <p:sp>
        <p:nvSpPr>
          <p:cNvPr id="94" name="Google Shape;94;p15"/>
          <p:cNvSpPr/>
          <p:nvPr/>
        </p:nvSpPr>
        <p:spPr>
          <a:xfrm>
            <a:off x="10327243" y="2143363"/>
            <a:ext cx="2793325" cy="51625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4050"/>
              <a:buFont typeface="Overpass"/>
              <a:buNone/>
            </a:pPr>
            <a:r>
              <a:rPr b="1" i="0" lang="en-US" sz="4050" u="none" cap="none" strike="noStrike">
                <a:solidFill>
                  <a:srgbClr val="E5E0DF"/>
                </a:solidFill>
                <a:latin typeface="Overpass"/>
                <a:ea typeface="Overpass"/>
                <a:cs typeface="Overpass"/>
                <a:sym typeface="Overpass"/>
              </a:rPr>
              <a:t>$5M</a:t>
            </a:r>
            <a:endParaRPr b="0" i="0" sz="4050" u="none" cap="none" strike="noStrike"/>
          </a:p>
        </p:txBody>
      </p:sp>
      <p:sp>
        <p:nvSpPr>
          <p:cNvPr id="95" name="Google Shape;95;p15"/>
          <p:cNvSpPr/>
          <p:nvPr/>
        </p:nvSpPr>
        <p:spPr>
          <a:xfrm>
            <a:off x="10803612" y="2825353"/>
            <a:ext cx="1840468" cy="230029"/>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E5E0DF"/>
              </a:buClr>
              <a:buSzPts val="1400"/>
              <a:buFont typeface="Overpass"/>
              <a:buNone/>
            </a:pPr>
            <a:r>
              <a:rPr b="1" i="0" lang="en-US" sz="1400" u="none" cap="none" strike="noStrike">
                <a:solidFill>
                  <a:srgbClr val="E5E0DF"/>
                </a:solidFill>
                <a:latin typeface="Overpass"/>
                <a:ea typeface="Overpass"/>
                <a:cs typeface="Overpass"/>
                <a:sym typeface="Overpass"/>
              </a:rPr>
              <a:t>Cost Savings</a:t>
            </a:r>
            <a:endParaRPr b="0" i="0" sz="1400" u="none" cap="none" strike="noStrike"/>
          </a:p>
        </p:txBody>
      </p:sp>
      <p:sp>
        <p:nvSpPr>
          <p:cNvPr id="96" name="Google Shape;96;p15"/>
          <p:cNvSpPr/>
          <p:nvPr/>
        </p:nvSpPr>
        <p:spPr>
          <a:xfrm>
            <a:off x="10327243" y="3125391"/>
            <a:ext cx="2793325" cy="437198"/>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Financial impact from predictive analytics</a:t>
            </a:r>
            <a:endParaRPr b="0" i="0" sz="1200" u="none" cap="none" strike="noStrike"/>
          </a:p>
        </p:txBody>
      </p:sp>
      <p:sp>
        <p:nvSpPr>
          <p:cNvPr id="97" name="Google Shape;97;p15"/>
          <p:cNvSpPr/>
          <p:nvPr/>
        </p:nvSpPr>
        <p:spPr>
          <a:xfrm>
            <a:off x="1509712" y="3694033"/>
            <a:ext cx="11610856" cy="655796"/>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The healthcare industry stands at the forefront of data science innovation, where algorithmic decision-making literally saves lives. The AI in healthcare market is experiencing explosive growth, expanding from $26.5 billion in 2024 to a projected $188 billion by 2028—a compound annual growth rate exceeding 60%. This isn't hype; it's driven by demonstrable improvements in patient outcomes and operational efficiency.</a:t>
            </a:r>
            <a:endParaRPr b="0" i="0" sz="1200" u="none" cap="none" strike="noStrike"/>
          </a:p>
        </p:txBody>
      </p:sp>
      <p:sp>
        <p:nvSpPr>
          <p:cNvPr id="98" name="Google Shape;98;p15"/>
          <p:cNvSpPr/>
          <p:nvPr/>
        </p:nvSpPr>
        <p:spPr>
          <a:xfrm>
            <a:off x="1509712" y="4481274"/>
            <a:ext cx="3792379" cy="2376726"/>
          </a:xfrm>
          <a:prstGeom prst="roundRect">
            <a:avLst>
              <a:gd fmla="val 2765"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1673637" y="4598073"/>
            <a:ext cx="1840500" cy="2301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E5E0DF"/>
              </a:buClr>
              <a:buSzPts val="1400"/>
              <a:buFont typeface="Overpass"/>
              <a:buNone/>
            </a:pPr>
            <a:r>
              <a:rPr b="1" i="0" lang="en-US" sz="1400" u="none" cap="none" strike="noStrike">
                <a:solidFill>
                  <a:srgbClr val="E5E0DF"/>
                </a:solidFill>
                <a:latin typeface="Overpass"/>
                <a:ea typeface="Overpass"/>
                <a:cs typeface="Overpass"/>
                <a:sym typeface="Overpass"/>
              </a:rPr>
              <a:t>Predictive Analytics</a:t>
            </a:r>
            <a:endParaRPr b="0" i="0" sz="1400" u="none" cap="none" strike="noStrike"/>
          </a:p>
        </p:txBody>
      </p:sp>
      <p:sp>
        <p:nvSpPr>
          <p:cNvPr id="100" name="Google Shape;100;p15"/>
          <p:cNvSpPr/>
          <p:nvPr/>
        </p:nvSpPr>
        <p:spPr>
          <a:xfrm>
            <a:off x="1673750" y="4828174"/>
            <a:ext cx="3464400" cy="19128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Corewell Health implemented AI-powered risk stratification algorithms that analyze patient vitals, lab results, medication adherence, and social determinants of health to identify high-risk patients before complications arise. The result: 200 preventable readmissions avoided in the first year, translating to $5 million in avoided costs while improving patient quality of life.</a:t>
            </a:r>
            <a:endParaRPr b="0" i="0" sz="1200" u="none" cap="none" strike="noStrike"/>
          </a:p>
        </p:txBody>
      </p:sp>
      <p:sp>
        <p:nvSpPr>
          <p:cNvPr id="101" name="Google Shape;101;p15"/>
          <p:cNvSpPr/>
          <p:nvPr/>
        </p:nvSpPr>
        <p:spPr>
          <a:xfrm>
            <a:off x="5418892" y="4481274"/>
            <a:ext cx="3792379" cy="2376726"/>
          </a:xfrm>
          <a:prstGeom prst="roundRect">
            <a:avLst>
              <a:gd fmla="val 2765"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5582841" y="4645223"/>
            <a:ext cx="1840468" cy="230029"/>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E5E0DF"/>
              </a:buClr>
              <a:buSzPts val="1400"/>
              <a:buFont typeface="Overpass"/>
              <a:buNone/>
            </a:pPr>
            <a:r>
              <a:rPr b="1" i="0" lang="en-US" sz="1400" u="none" cap="none" strike="noStrike">
                <a:solidFill>
                  <a:srgbClr val="E5E0DF"/>
                </a:solidFill>
                <a:latin typeface="Overpass"/>
                <a:ea typeface="Overpass"/>
                <a:cs typeface="Overpass"/>
                <a:sym typeface="Overpass"/>
              </a:rPr>
              <a:t>Medical Imaging</a:t>
            </a:r>
            <a:endParaRPr b="0" i="0" sz="1400" u="none" cap="none" strike="noStrike"/>
          </a:p>
        </p:txBody>
      </p:sp>
      <p:sp>
        <p:nvSpPr>
          <p:cNvPr id="103" name="Google Shape;103;p15"/>
          <p:cNvSpPr/>
          <p:nvPr/>
        </p:nvSpPr>
        <p:spPr>
          <a:xfrm>
            <a:off x="5582841" y="4945261"/>
            <a:ext cx="3464481" cy="1530191"/>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Deep learning convolutional neural networks now match or exceed human radiologists in detecting tumors, fractures, and anomalies in X-rays, MRIs, and CT scans. These AI systems identify subtle patterns that human eyes might miss, particularly in early-stage cancers where treatment outcomes are most favorable.</a:t>
            </a:r>
            <a:endParaRPr b="0" i="0" sz="1200" u="none" cap="none" strike="noStrike"/>
          </a:p>
        </p:txBody>
      </p:sp>
      <p:sp>
        <p:nvSpPr>
          <p:cNvPr id="104" name="Google Shape;104;p15"/>
          <p:cNvSpPr/>
          <p:nvPr/>
        </p:nvSpPr>
        <p:spPr>
          <a:xfrm>
            <a:off x="9328071" y="4481274"/>
            <a:ext cx="3792379" cy="2376726"/>
          </a:xfrm>
          <a:prstGeom prst="roundRect">
            <a:avLst>
              <a:gd fmla="val 2765"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9492020" y="4645223"/>
            <a:ext cx="1840468" cy="230029"/>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E5E0DF"/>
              </a:buClr>
              <a:buSzPts val="1400"/>
              <a:buFont typeface="Overpass"/>
              <a:buNone/>
            </a:pPr>
            <a:r>
              <a:rPr b="1" i="0" lang="en-US" sz="1400" u="none" cap="none" strike="noStrike">
                <a:solidFill>
                  <a:srgbClr val="E5E0DF"/>
                </a:solidFill>
                <a:latin typeface="Overpass"/>
                <a:ea typeface="Overpass"/>
                <a:cs typeface="Overpass"/>
                <a:sym typeface="Overpass"/>
              </a:rPr>
              <a:t>Drug Discovery</a:t>
            </a:r>
            <a:endParaRPr b="0" i="0" sz="1400" u="none" cap="none" strike="noStrike"/>
          </a:p>
        </p:txBody>
      </p:sp>
      <p:sp>
        <p:nvSpPr>
          <p:cNvPr id="106" name="Google Shape;106;p15"/>
          <p:cNvSpPr/>
          <p:nvPr/>
        </p:nvSpPr>
        <p:spPr>
          <a:xfrm>
            <a:off x="9492020" y="4945261"/>
            <a:ext cx="3464481" cy="1530191"/>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Traditional drug development takes 10-15 years and costs $2-3 billion per approved medication. Deep learning models now predict molecular interactions, screen billions of compounds virtually, and optimize chemical structures—reducing discovery timelines by 40-50% and dramatically lowering R&amp;D costs.</a:t>
            </a:r>
            <a:endParaRPr b="0" i="0" sz="12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2468404" y="1152049"/>
            <a:ext cx="7349847" cy="3840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400"/>
              <a:buFont typeface="Overpass"/>
              <a:buNone/>
            </a:pPr>
            <a:r>
              <a:rPr b="1" i="0" lang="en-US" sz="2400" u="none" cap="none" strike="noStrike">
                <a:solidFill>
                  <a:srgbClr val="FFFFFF"/>
                </a:solidFill>
                <a:latin typeface="Overpass"/>
                <a:ea typeface="Overpass"/>
                <a:cs typeface="Overpass"/>
                <a:sym typeface="Overpass"/>
              </a:rPr>
              <a:t>Finance: Mitigating Risk and Enhancing Experience</a:t>
            </a:r>
            <a:endParaRPr b="0" i="0" sz="2400" u="none" cap="none" strike="noStrike"/>
          </a:p>
        </p:txBody>
      </p:sp>
      <p:sp>
        <p:nvSpPr>
          <p:cNvPr id="113" name="Google Shape;113;p16"/>
          <p:cNvSpPr/>
          <p:nvPr/>
        </p:nvSpPr>
        <p:spPr>
          <a:xfrm>
            <a:off x="2468404" y="1699022"/>
            <a:ext cx="9693593" cy="3390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The financial services industry was among the earliest adopters of quantitative analysis, and today's data science applications represent the natural evolution of this tradition. From fraud detection to algorithmic trading, data-driven decision-making has become table stakes for competitive survival in financial markets.</a:t>
            </a:r>
            <a:endParaRPr b="0" i="0" sz="1000" u="none" cap="none" strike="noStrike"/>
          </a:p>
        </p:txBody>
      </p:sp>
      <p:sp>
        <p:nvSpPr>
          <p:cNvPr id="114" name="Google Shape;114;p16"/>
          <p:cNvSpPr/>
          <p:nvPr/>
        </p:nvSpPr>
        <p:spPr>
          <a:xfrm>
            <a:off x="3246715" y="2978587"/>
            <a:ext cx="1606391" cy="32646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50"/>
              <a:buFont typeface="Overpass"/>
              <a:buNone/>
            </a:pPr>
            <a:r>
              <a:rPr b="1" i="0" lang="en-US" sz="2550" u="none" cap="none" strike="noStrike">
                <a:solidFill>
                  <a:srgbClr val="E5E0DF"/>
                </a:solidFill>
                <a:latin typeface="Overpass"/>
                <a:ea typeface="Overpass"/>
                <a:cs typeface="Overpass"/>
                <a:sym typeface="Overpass"/>
              </a:rPr>
              <a:t>175%</a:t>
            </a:r>
            <a:endParaRPr b="0" i="0" sz="2550" u="none" cap="none" strike="noStrike"/>
          </a:p>
        </p:txBody>
      </p:sp>
      <p:pic>
        <p:nvPicPr>
          <p:cNvPr descr="preencoded.png" id="115" name="Google Shape;115;p16"/>
          <p:cNvPicPr preferRelativeResize="0"/>
          <p:nvPr/>
        </p:nvPicPr>
        <p:blipFill rotWithShape="1">
          <a:blip r:embed="rId3">
            <a:alphaModFix/>
          </a:blip>
          <a:srcRect b="0" l="0" r="0" t="0"/>
          <a:stretch/>
        </p:blipFill>
        <p:spPr>
          <a:xfrm>
            <a:off x="3070503" y="2162294"/>
            <a:ext cx="1959054" cy="1959054"/>
          </a:xfrm>
          <a:prstGeom prst="rect">
            <a:avLst/>
          </a:prstGeom>
          <a:noFill/>
          <a:ln>
            <a:noFill/>
          </a:ln>
        </p:spPr>
      </p:pic>
      <p:sp>
        <p:nvSpPr>
          <p:cNvPr id="116" name="Google Shape;116;p16"/>
          <p:cNvSpPr/>
          <p:nvPr/>
        </p:nvSpPr>
        <p:spPr>
          <a:xfrm>
            <a:off x="3281720" y="4235410"/>
            <a:ext cx="1536502" cy="192048"/>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1200"/>
              <a:buFont typeface="Overpass"/>
              <a:buNone/>
            </a:pPr>
            <a:r>
              <a:rPr b="1" i="0" lang="en-US" sz="1200" u="none" cap="none" strike="noStrike">
                <a:solidFill>
                  <a:srgbClr val="E5E0DF"/>
                </a:solidFill>
                <a:latin typeface="Overpass"/>
                <a:ea typeface="Overpass"/>
                <a:cs typeface="Overpass"/>
                <a:sym typeface="Overpass"/>
              </a:rPr>
              <a:t>Market Growth</a:t>
            </a:r>
            <a:endParaRPr b="0" i="0" sz="1200" u="none" cap="none" strike="noStrike"/>
          </a:p>
        </p:txBody>
      </p:sp>
      <p:sp>
        <p:nvSpPr>
          <p:cNvPr id="117" name="Google Shape;117;p16"/>
          <p:cNvSpPr/>
          <p:nvPr/>
        </p:nvSpPr>
        <p:spPr>
          <a:xfrm>
            <a:off x="2468404" y="4476274"/>
            <a:ext cx="3163253" cy="169545"/>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AI spending increase 2023-2027</a:t>
            </a:r>
            <a:endParaRPr b="0" i="0" sz="1000" u="none" cap="none" strike="noStrike"/>
          </a:p>
        </p:txBody>
      </p:sp>
      <p:sp>
        <p:nvSpPr>
          <p:cNvPr id="118" name="Google Shape;118;p16"/>
          <p:cNvSpPr/>
          <p:nvPr/>
        </p:nvSpPr>
        <p:spPr>
          <a:xfrm>
            <a:off x="6511766" y="2978587"/>
            <a:ext cx="1606391" cy="32646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50"/>
              <a:buFont typeface="Overpass"/>
              <a:buNone/>
            </a:pPr>
            <a:r>
              <a:rPr b="1" i="0" lang="en-US" sz="2550" u="none" cap="none" strike="noStrike">
                <a:solidFill>
                  <a:srgbClr val="E5E0DF"/>
                </a:solidFill>
                <a:latin typeface="Overpass"/>
                <a:ea typeface="Overpass"/>
                <a:cs typeface="Overpass"/>
                <a:sym typeface="Overpass"/>
              </a:rPr>
              <a:t>$97B</a:t>
            </a:r>
            <a:endParaRPr b="0" i="0" sz="2550" u="none" cap="none" strike="noStrike"/>
          </a:p>
        </p:txBody>
      </p:sp>
      <p:pic>
        <p:nvPicPr>
          <p:cNvPr descr="preencoded.png" id="119" name="Google Shape;119;p16"/>
          <p:cNvPicPr preferRelativeResize="0"/>
          <p:nvPr/>
        </p:nvPicPr>
        <p:blipFill rotWithShape="1">
          <a:blip r:embed="rId4">
            <a:alphaModFix/>
          </a:blip>
          <a:srcRect b="0" l="0" r="0" t="0"/>
          <a:stretch/>
        </p:blipFill>
        <p:spPr>
          <a:xfrm>
            <a:off x="6335554" y="2162294"/>
            <a:ext cx="1959054" cy="1959054"/>
          </a:xfrm>
          <a:prstGeom prst="rect">
            <a:avLst/>
          </a:prstGeom>
          <a:noFill/>
          <a:ln>
            <a:noFill/>
          </a:ln>
        </p:spPr>
      </p:pic>
      <p:sp>
        <p:nvSpPr>
          <p:cNvPr id="120" name="Google Shape;120;p16"/>
          <p:cNvSpPr/>
          <p:nvPr/>
        </p:nvSpPr>
        <p:spPr>
          <a:xfrm>
            <a:off x="6546890" y="4235410"/>
            <a:ext cx="1536502" cy="192048"/>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1200"/>
              <a:buFont typeface="Overpass"/>
              <a:buNone/>
            </a:pPr>
            <a:r>
              <a:rPr b="1" i="0" lang="en-US" sz="1200" u="none" cap="none" strike="noStrike">
                <a:solidFill>
                  <a:srgbClr val="E5E0DF"/>
                </a:solidFill>
                <a:latin typeface="Overpass"/>
                <a:ea typeface="Overpass"/>
                <a:cs typeface="Overpass"/>
                <a:sym typeface="Overpass"/>
              </a:rPr>
              <a:t>2027 Projection</a:t>
            </a:r>
            <a:endParaRPr b="0" i="0" sz="1200" u="none" cap="none" strike="noStrike"/>
          </a:p>
        </p:txBody>
      </p:sp>
      <p:sp>
        <p:nvSpPr>
          <p:cNvPr id="121" name="Google Shape;121;p16"/>
          <p:cNvSpPr/>
          <p:nvPr/>
        </p:nvSpPr>
        <p:spPr>
          <a:xfrm>
            <a:off x="5733455" y="4476274"/>
            <a:ext cx="3163372" cy="169545"/>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Total AI spending in finance</a:t>
            </a:r>
            <a:endParaRPr b="0" i="0" sz="1000" u="none" cap="none" strike="noStrike"/>
          </a:p>
        </p:txBody>
      </p:sp>
      <p:sp>
        <p:nvSpPr>
          <p:cNvPr id="122" name="Google Shape;122;p16"/>
          <p:cNvSpPr/>
          <p:nvPr/>
        </p:nvSpPr>
        <p:spPr>
          <a:xfrm>
            <a:off x="9776936" y="2978587"/>
            <a:ext cx="1606391" cy="32646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50"/>
              <a:buFont typeface="Overpass"/>
              <a:buNone/>
            </a:pPr>
            <a:r>
              <a:rPr b="1" i="0" lang="en-US" sz="2550" u="none" cap="none" strike="noStrike">
                <a:solidFill>
                  <a:srgbClr val="E5E0DF"/>
                </a:solidFill>
                <a:latin typeface="Overpass"/>
                <a:ea typeface="Overpass"/>
                <a:cs typeface="Overpass"/>
                <a:sym typeface="Overpass"/>
              </a:rPr>
              <a:t>$35B</a:t>
            </a:r>
            <a:endParaRPr b="0" i="0" sz="2550" u="none" cap="none" strike="noStrike"/>
          </a:p>
        </p:txBody>
      </p:sp>
      <p:pic>
        <p:nvPicPr>
          <p:cNvPr descr="preencoded.png" id="123" name="Google Shape;123;p16"/>
          <p:cNvPicPr preferRelativeResize="0"/>
          <p:nvPr/>
        </p:nvPicPr>
        <p:blipFill rotWithShape="1">
          <a:blip r:embed="rId5">
            <a:alphaModFix/>
          </a:blip>
          <a:srcRect b="0" l="0" r="0" t="0"/>
          <a:stretch/>
        </p:blipFill>
        <p:spPr>
          <a:xfrm>
            <a:off x="9600724" y="2162294"/>
            <a:ext cx="1959054" cy="1959054"/>
          </a:xfrm>
          <a:prstGeom prst="rect">
            <a:avLst/>
          </a:prstGeom>
          <a:noFill/>
          <a:ln>
            <a:noFill/>
          </a:ln>
        </p:spPr>
      </p:pic>
      <p:sp>
        <p:nvSpPr>
          <p:cNvPr id="124" name="Google Shape;124;p16"/>
          <p:cNvSpPr/>
          <p:nvPr/>
        </p:nvSpPr>
        <p:spPr>
          <a:xfrm>
            <a:off x="9811941" y="4235410"/>
            <a:ext cx="1536502" cy="192048"/>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1200"/>
              <a:buFont typeface="Overpass"/>
              <a:buNone/>
            </a:pPr>
            <a:r>
              <a:rPr b="1" i="0" lang="en-US" sz="1200" u="none" cap="none" strike="noStrike">
                <a:solidFill>
                  <a:srgbClr val="E5E0DF"/>
                </a:solidFill>
                <a:latin typeface="Overpass"/>
                <a:ea typeface="Overpass"/>
                <a:cs typeface="Overpass"/>
                <a:sym typeface="Overpass"/>
              </a:rPr>
              <a:t>2023 Baseline</a:t>
            </a:r>
            <a:endParaRPr b="0" i="0" sz="1200" u="none" cap="none" strike="noStrike"/>
          </a:p>
        </p:txBody>
      </p:sp>
      <p:sp>
        <p:nvSpPr>
          <p:cNvPr id="125" name="Google Shape;125;p16"/>
          <p:cNvSpPr/>
          <p:nvPr/>
        </p:nvSpPr>
        <p:spPr>
          <a:xfrm>
            <a:off x="8998625" y="4476274"/>
            <a:ext cx="3163253" cy="169545"/>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Initial investment level</a:t>
            </a:r>
            <a:endParaRPr b="0" i="0" sz="1000" u="none" cap="none" strike="noStrike"/>
          </a:p>
        </p:txBody>
      </p:sp>
      <p:pic>
        <p:nvPicPr>
          <p:cNvPr descr="preencoded.png" id="126" name="Google Shape;126;p16"/>
          <p:cNvPicPr preferRelativeResize="0"/>
          <p:nvPr/>
        </p:nvPicPr>
        <p:blipFill rotWithShape="1">
          <a:blip r:embed="rId6">
            <a:alphaModFix/>
          </a:blip>
          <a:srcRect b="0" l="0" r="0" t="0"/>
          <a:stretch/>
        </p:blipFill>
        <p:spPr>
          <a:xfrm>
            <a:off x="2468404" y="4737378"/>
            <a:ext cx="326469" cy="326469"/>
          </a:xfrm>
          <a:prstGeom prst="rect">
            <a:avLst/>
          </a:prstGeom>
          <a:noFill/>
          <a:ln>
            <a:noFill/>
          </a:ln>
        </p:spPr>
      </p:pic>
      <p:sp>
        <p:nvSpPr>
          <p:cNvPr id="127" name="Google Shape;127;p16"/>
          <p:cNvSpPr/>
          <p:nvPr/>
        </p:nvSpPr>
        <p:spPr>
          <a:xfrm>
            <a:off x="2896672" y="4737378"/>
            <a:ext cx="1536502" cy="1920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200"/>
              <a:buFont typeface="Overpass"/>
              <a:buNone/>
            </a:pPr>
            <a:r>
              <a:rPr b="1" i="0" lang="en-US" sz="1200" u="none" cap="none" strike="noStrike">
                <a:solidFill>
                  <a:srgbClr val="E5E0DF"/>
                </a:solidFill>
                <a:latin typeface="Overpass"/>
                <a:ea typeface="Overpass"/>
                <a:cs typeface="Overpass"/>
                <a:sym typeface="Overpass"/>
              </a:rPr>
              <a:t>Fraud Detection</a:t>
            </a:r>
            <a:endParaRPr b="0" i="0" sz="1200" u="none" cap="none" strike="noStrike"/>
          </a:p>
        </p:txBody>
      </p:sp>
      <p:sp>
        <p:nvSpPr>
          <p:cNvPr id="128" name="Google Shape;128;p16"/>
          <p:cNvSpPr/>
          <p:nvPr/>
        </p:nvSpPr>
        <p:spPr>
          <a:xfrm>
            <a:off x="2896672" y="4978241"/>
            <a:ext cx="4367570" cy="8477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Neural networks process millions of transactions daily, identifying anomalous patterns that indicate fraudulent activity. These systems learn continuously from new fraud cases, adapting to evolving attack patterns faster than rule-based systems ever could. False positive rates have dropped below 0.1% while detection rates exceed 99%.</a:t>
            </a:r>
            <a:endParaRPr b="0" i="0" sz="1000" u="none" cap="none" strike="noStrike"/>
          </a:p>
        </p:txBody>
      </p:sp>
      <p:pic>
        <p:nvPicPr>
          <p:cNvPr descr="preencoded.png" id="129" name="Google Shape;129;p16"/>
          <p:cNvPicPr preferRelativeResize="0"/>
          <p:nvPr/>
        </p:nvPicPr>
        <p:blipFill rotWithShape="1">
          <a:blip r:embed="rId7">
            <a:alphaModFix/>
          </a:blip>
          <a:srcRect b="0" l="0" r="0" t="0"/>
          <a:stretch/>
        </p:blipFill>
        <p:spPr>
          <a:xfrm>
            <a:off x="7366040" y="4737378"/>
            <a:ext cx="326469" cy="326469"/>
          </a:xfrm>
          <a:prstGeom prst="rect">
            <a:avLst/>
          </a:prstGeom>
          <a:noFill/>
          <a:ln>
            <a:noFill/>
          </a:ln>
        </p:spPr>
      </p:pic>
      <p:sp>
        <p:nvSpPr>
          <p:cNvPr id="130" name="Google Shape;130;p16"/>
          <p:cNvSpPr/>
          <p:nvPr/>
        </p:nvSpPr>
        <p:spPr>
          <a:xfrm>
            <a:off x="7794308" y="4737378"/>
            <a:ext cx="1536502" cy="1920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200"/>
              <a:buFont typeface="Overpass"/>
              <a:buNone/>
            </a:pPr>
            <a:r>
              <a:rPr b="1" i="0" lang="en-US" sz="1200" u="none" cap="none" strike="noStrike">
                <a:solidFill>
                  <a:srgbClr val="E5E0DF"/>
                </a:solidFill>
                <a:latin typeface="Overpass"/>
                <a:ea typeface="Overpass"/>
                <a:cs typeface="Overpass"/>
                <a:sym typeface="Overpass"/>
              </a:rPr>
              <a:t>Algorithmic Trading</a:t>
            </a:r>
            <a:endParaRPr b="0" i="0" sz="1200" u="none" cap="none" strike="noStrike"/>
          </a:p>
        </p:txBody>
      </p:sp>
      <p:sp>
        <p:nvSpPr>
          <p:cNvPr id="131" name="Google Shape;131;p16"/>
          <p:cNvSpPr/>
          <p:nvPr/>
        </p:nvSpPr>
        <p:spPr>
          <a:xfrm>
            <a:off x="7794308" y="4978241"/>
            <a:ext cx="4367689" cy="8477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Deep learning models analyze price movements, order book dynamics, news sentiment, and alternative data sources to estimate stock price movements with sufficient accuracy for profitable high-frequency trading. Some hedge funds now generate 70%+ of their returns from purely algorithmic strategies.</a:t>
            </a:r>
            <a:endParaRPr b="0" i="0" sz="1000" u="none" cap="none" strike="noStrike"/>
          </a:p>
        </p:txBody>
      </p:sp>
      <p:pic>
        <p:nvPicPr>
          <p:cNvPr descr="preencoded.png" id="132" name="Google Shape;132;p16"/>
          <p:cNvPicPr preferRelativeResize="0"/>
          <p:nvPr/>
        </p:nvPicPr>
        <p:blipFill rotWithShape="1">
          <a:blip r:embed="rId8">
            <a:alphaModFix/>
          </a:blip>
          <a:srcRect b="0" l="0" r="0" t="0"/>
          <a:stretch/>
        </p:blipFill>
        <p:spPr>
          <a:xfrm>
            <a:off x="2468404" y="5988844"/>
            <a:ext cx="326469" cy="326469"/>
          </a:xfrm>
          <a:prstGeom prst="rect">
            <a:avLst/>
          </a:prstGeom>
          <a:noFill/>
          <a:ln>
            <a:noFill/>
          </a:ln>
        </p:spPr>
      </p:pic>
      <p:sp>
        <p:nvSpPr>
          <p:cNvPr id="133" name="Google Shape;133;p16"/>
          <p:cNvSpPr/>
          <p:nvPr/>
        </p:nvSpPr>
        <p:spPr>
          <a:xfrm>
            <a:off x="2896672" y="5988844"/>
            <a:ext cx="1536502" cy="1920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200"/>
              <a:buFont typeface="Overpass"/>
              <a:buNone/>
            </a:pPr>
            <a:r>
              <a:rPr b="1" i="0" lang="en-US" sz="1200" u="none" cap="none" strike="noStrike">
                <a:solidFill>
                  <a:srgbClr val="E5E0DF"/>
                </a:solidFill>
                <a:latin typeface="Overpass"/>
                <a:ea typeface="Overpass"/>
                <a:cs typeface="Overpass"/>
                <a:sym typeface="Overpass"/>
              </a:rPr>
              <a:t>Credit Scoring</a:t>
            </a:r>
            <a:endParaRPr b="0" i="0" sz="1200" u="none" cap="none" strike="noStrike"/>
          </a:p>
        </p:txBody>
      </p:sp>
      <p:sp>
        <p:nvSpPr>
          <p:cNvPr id="134" name="Google Shape;134;p16"/>
          <p:cNvSpPr/>
          <p:nvPr/>
        </p:nvSpPr>
        <p:spPr>
          <a:xfrm>
            <a:off x="2896672" y="6229707"/>
            <a:ext cx="4367570" cy="8477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Modern credit risk models incorporate thousands of features beyond traditional FICO scores: transaction history, spending patterns, employment stability, even social network activity. This enables lending to previously underserved populations while maintaining or improving default prediction accuracy.</a:t>
            </a:r>
            <a:endParaRPr b="0" i="0" sz="1000" u="none" cap="none" strike="noStrike"/>
          </a:p>
        </p:txBody>
      </p:sp>
      <p:pic>
        <p:nvPicPr>
          <p:cNvPr descr="preencoded.png" id="135" name="Google Shape;135;p16"/>
          <p:cNvPicPr preferRelativeResize="0"/>
          <p:nvPr/>
        </p:nvPicPr>
        <p:blipFill rotWithShape="1">
          <a:blip r:embed="rId9">
            <a:alphaModFix/>
          </a:blip>
          <a:srcRect b="0" l="0" r="0" t="0"/>
          <a:stretch/>
        </p:blipFill>
        <p:spPr>
          <a:xfrm>
            <a:off x="7366040" y="5988844"/>
            <a:ext cx="326469" cy="326469"/>
          </a:xfrm>
          <a:prstGeom prst="rect">
            <a:avLst/>
          </a:prstGeom>
          <a:noFill/>
          <a:ln>
            <a:noFill/>
          </a:ln>
        </p:spPr>
      </p:pic>
      <p:sp>
        <p:nvSpPr>
          <p:cNvPr id="136" name="Google Shape;136;p16"/>
          <p:cNvSpPr/>
          <p:nvPr/>
        </p:nvSpPr>
        <p:spPr>
          <a:xfrm>
            <a:off x="7794308" y="5988844"/>
            <a:ext cx="1561148" cy="1920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200"/>
              <a:buFont typeface="Overpass"/>
              <a:buNone/>
            </a:pPr>
            <a:r>
              <a:rPr b="1" i="0" lang="en-US" sz="1200" u="none" cap="none" strike="noStrike">
                <a:solidFill>
                  <a:srgbClr val="E5E0DF"/>
                </a:solidFill>
                <a:latin typeface="Overpass"/>
                <a:ea typeface="Overpass"/>
                <a:cs typeface="Overpass"/>
                <a:sym typeface="Overpass"/>
              </a:rPr>
              <a:t>Personalized Banking</a:t>
            </a:r>
            <a:endParaRPr b="0" i="0" sz="1200" u="none" cap="none" strike="noStrike"/>
          </a:p>
        </p:txBody>
      </p:sp>
      <p:sp>
        <p:nvSpPr>
          <p:cNvPr id="137" name="Google Shape;137;p16"/>
          <p:cNvSpPr/>
          <p:nvPr/>
        </p:nvSpPr>
        <p:spPr>
          <a:xfrm>
            <a:off x="7794308" y="6229707"/>
            <a:ext cx="4367689" cy="8477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AI-powered chatbots and virtual assistants provide 24/7 customer support, handling routine inquiries and transactions while escalating complex issues to human agents. Natural language processing enables conversational interactions that understand context and intent, dramatically improving customer satisfaction scores.</a:t>
            </a:r>
            <a:endParaRPr b="0" i="0" sz="10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7"/>
          <p:cNvSpPr/>
          <p:nvPr/>
        </p:nvSpPr>
        <p:spPr>
          <a:xfrm>
            <a:off x="2553653" y="1277898"/>
            <a:ext cx="5961817" cy="377428"/>
          </a:xfrm>
          <a:prstGeom prst="rect">
            <a:avLst/>
          </a:prstGeom>
          <a:noFill/>
          <a:ln>
            <a:noFill/>
          </a:ln>
        </p:spPr>
        <p:txBody>
          <a:bodyPr anchorCtr="0" anchor="t" bIns="0" lIns="0" spcFirstLastPara="1" rIns="0" wrap="square" tIns="0">
            <a:noAutofit/>
          </a:bodyPr>
          <a:lstStyle/>
          <a:p>
            <a:pPr indent="0" lvl="0" marL="0" marR="0" rtl="0" algn="l">
              <a:lnSpc>
                <a:spcPct val="125531"/>
              </a:lnSpc>
              <a:spcBef>
                <a:spcPts val="0"/>
              </a:spcBef>
              <a:spcAft>
                <a:spcPts val="0"/>
              </a:spcAft>
              <a:buClr>
                <a:srgbClr val="FFFFFF"/>
              </a:buClr>
              <a:buSzPts val="2350"/>
              <a:buFont typeface="Overpass"/>
              <a:buNone/>
            </a:pPr>
            <a:r>
              <a:rPr b="1" i="0" lang="en-US" sz="2350" u="none" cap="none" strike="noStrike">
                <a:solidFill>
                  <a:srgbClr val="FFFFFF"/>
                </a:solidFill>
                <a:latin typeface="Overpass"/>
                <a:ea typeface="Overpass"/>
                <a:cs typeface="Overpass"/>
                <a:sym typeface="Overpass"/>
              </a:rPr>
              <a:t>Retail: The Data-Driven Customer Journey</a:t>
            </a:r>
            <a:endParaRPr b="0" i="0" sz="2350" u="none" cap="none" strike="noStrike"/>
          </a:p>
        </p:txBody>
      </p:sp>
      <p:sp>
        <p:nvSpPr>
          <p:cNvPr id="144" name="Google Shape;144;p17"/>
          <p:cNvSpPr/>
          <p:nvPr/>
        </p:nvSpPr>
        <p:spPr>
          <a:xfrm>
            <a:off x="2553653" y="1812488"/>
            <a:ext cx="9523095" cy="4964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Retail represents perhaps the most visible application of data science, where customers directly experience personalized recommendations, dynamic pricing, and seamless omnichannel experiences. Behind the scenes, sophisticated analytics optimize everything from inventory placement to store layouts to marketing campaign targeting.</a:t>
            </a:r>
            <a:endParaRPr b="0" i="0" sz="1000" u="none" cap="none" strike="noStrike"/>
          </a:p>
        </p:txBody>
      </p:sp>
      <p:pic>
        <p:nvPicPr>
          <p:cNvPr descr="preencoded.png" id="145" name="Google Shape;145;p17"/>
          <p:cNvPicPr preferRelativeResize="0"/>
          <p:nvPr/>
        </p:nvPicPr>
        <p:blipFill rotWithShape="1">
          <a:blip r:embed="rId3">
            <a:alphaModFix/>
          </a:blip>
          <a:srcRect b="0" l="0" r="0" t="0"/>
          <a:stretch/>
        </p:blipFill>
        <p:spPr>
          <a:xfrm>
            <a:off x="2553653" y="2397323"/>
            <a:ext cx="3174325" cy="513159"/>
          </a:xfrm>
          <a:prstGeom prst="rect">
            <a:avLst/>
          </a:prstGeom>
          <a:noFill/>
          <a:ln>
            <a:noFill/>
          </a:ln>
        </p:spPr>
      </p:pic>
      <p:sp>
        <p:nvSpPr>
          <p:cNvPr id="146" name="Google Shape;146;p17"/>
          <p:cNvSpPr/>
          <p:nvPr/>
        </p:nvSpPr>
        <p:spPr>
          <a:xfrm>
            <a:off x="2681883" y="2989064"/>
            <a:ext cx="1698903"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Customer Segmentation</a:t>
            </a:r>
            <a:endParaRPr b="0" i="0" sz="1150" u="none" cap="none" strike="noStrike"/>
          </a:p>
        </p:txBody>
      </p:sp>
      <p:sp>
        <p:nvSpPr>
          <p:cNvPr id="147" name="Google Shape;147;p17"/>
          <p:cNvSpPr/>
          <p:nvPr/>
        </p:nvSpPr>
        <p:spPr>
          <a:xfrm>
            <a:off x="2681883" y="3224927"/>
            <a:ext cx="2917865" cy="33099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Identify high-value customers using clustering algorithms</a:t>
            </a:r>
            <a:endParaRPr b="0" i="0" sz="1000" u="none" cap="none" strike="noStrike"/>
          </a:p>
        </p:txBody>
      </p:sp>
      <p:pic>
        <p:nvPicPr>
          <p:cNvPr descr="preencoded.png" id="148" name="Google Shape;148;p17"/>
          <p:cNvPicPr preferRelativeResize="0"/>
          <p:nvPr/>
        </p:nvPicPr>
        <p:blipFill rotWithShape="1">
          <a:blip r:embed="rId4">
            <a:alphaModFix/>
          </a:blip>
          <a:srcRect b="0" l="0" r="0" t="0"/>
          <a:stretch/>
        </p:blipFill>
        <p:spPr>
          <a:xfrm>
            <a:off x="5727978" y="2397323"/>
            <a:ext cx="3174325" cy="513159"/>
          </a:xfrm>
          <a:prstGeom prst="rect">
            <a:avLst/>
          </a:prstGeom>
          <a:noFill/>
          <a:ln>
            <a:noFill/>
          </a:ln>
        </p:spPr>
      </p:pic>
      <p:sp>
        <p:nvSpPr>
          <p:cNvPr id="149" name="Google Shape;149;p17"/>
          <p:cNvSpPr/>
          <p:nvPr/>
        </p:nvSpPr>
        <p:spPr>
          <a:xfrm>
            <a:off x="5856208" y="2989064"/>
            <a:ext cx="1509474"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Churn Prediction</a:t>
            </a:r>
            <a:endParaRPr b="0" i="0" sz="1150" u="none" cap="none" strike="noStrike"/>
          </a:p>
        </p:txBody>
      </p:sp>
      <p:sp>
        <p:nvSpPr>
          <p:cNvPr id="150" name="Google Shape;150;p17"/>
          <p:cNvSpPr/>
          <p:nvPr/>
        </p:nvSpPr>
        <p:spPr>
          <a:xfrm>
            <a:off x="5856208" y="3224927"/>
            <a:ext cx="2917865" cy="33099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XGBoost models achieve ~0.85 AUC in predicting attrition</a:t>
            </a:r>
            <a:endParaRPr b="0" i="0" sz="1000" u="none" cap="none" strike="noStrike"/>
          </a:p>
        </p:txBody>
      </p:sp>
      <p:pic>
        <p:nvPicPr>
          <p:cNvPr descr="preencoded.png" id="151" name="Google Shape;151;p17"/>
          <p:cNvPicPr preferRelativeResize="0"/>
          <p:nvPr/>
        </p:nvPicPr>
        <p:blipFill rotWithShape="1">
          <a:blip r:embed="rId5">
            <a:alphaModFix/>
          </a:blip>
          <a:srcRect b="0" l="0" r="0" t="0"/>
          <a:stretch/>
        </p:blipFill>
        <p:spPr>
          <a:xfrm>
            <a:off x="8902303" y="2397323"/>
            <a:ext cx="3174444" cy="513159"/>
          </a:xfrm>
          <a:prstGeom prst="rect">
            <a:avLst/>
          </a:prstGeom>
          <a:noFill/>
          <a:ln>
            <a:noFill/>
          </a:ln>
        </p:spPr>
      </p:pic>
      <p:sp>
        <p:nvSpPr>
          <p:cNvPr id="152" name="Google Shape;152;p17"/>
          <p:cNvSpPr/>
          <p:nvPr/>
        </p:nvSpPr>
        <p:spPr>
          <a:xfrm>
            <a:off x="9030533" y="2989064"/>
            <a:ext cx="1509474"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Profitability Impact</a:t>
            </a:r>
            <a:endParaRPr b="0" i="0" sz="1150" u="none" cap="none" strike="noStrike"/>
          </a:p>
        </p:txBody>
      </p:sp>
      <p:sp>
        <p:nvSpPr>
          <p:cNvPr id="153" name="Google Shape;153;p17"/>
          <p:cNvSpPr/>
          <p:nvPr/>
        </p:nvSpPr>
        <p:spPr>
          <a:xfrm>
            <a:off x="9030533" y="3224927"/>
            <a:ext cx="2917984" cy="16549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5% retention increase boosts net profit ~25%</a:t>
            </a:r>
            <a:endParaRPr b="0" i="0" sz="1000" u="none" cap="none" strike="noStrike"/>
          </a:p>
        </p:txBody>
      </p:sp>
      <p:sp>
        <p:nvSpPr>
          <p:cNvPr id="154" name="Google Shape;154;p17"/>
          <p:cNvSpPr/>
          <p:nvPr/>
        </p:nvSpPr>
        <p:spPr>
          <a:xfrm>
            <a:off x="2553653" y="3851077"/>
            <a:ext cx="2229922"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FFFFFF"/>
              </a:buClr>
              <a:buSzPts val="1150"/>
              <a:buFont typeface="Overpass"/>
              <a:buNone/>
            </a:pPr>
            <a:r>
              <a:rPr b="1" i="0" lang="en-US" sz="1150" u="none" cap="none" strike="noStrike">
                <a:solidFill>
                  <a:srgbClr val="FFFFFF"/>
                </a:solidFill>
                <a:latin typeface="Overpass"/>
                <a:ea typeface="Overpass"/>
                <a:cs typeface="Overpass"/>
                <a:sym typeface="Overpass"/>
              </a:rPr>
              <a:t>The Pareto Principle in Practice</a:t>
            </a:r>
            <a:endParaRPr b="0" i="0" sz="1150" u="none" cap="none" strike="noStrike"/>
          </a:p>
        </p:txBody>
      </p:sp>
      <p:sp>
        <p:nvSpPr>
          <p:cNvPr id="155" name="Google Shape;155;p17"/>
          <p:cNvSpPr/>
          <p:nvPr/>
        </p:nvSpPr>
        <p:spPr>
          <a:xfrm>
            <a:off x="2553653" y="4118372"/>
            <a:ext cx="4605099" cy="9929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Retail analytics consistently reveals that a small fraction of customers—typically 20%—drive 80% of total sales. Data science enables retailers to identify these high-value customers early, personalize their experiences, and proactively prevent churn. XGBoost gradient boosted decision trees achieve area under the curve (AUC) metrics around 0.85 in predicting which customers are likely to disengage.</a:t>
            </a:r>
            <a:endParaRPr b="0" i="0" sz="1000" u="none" cap="none" strike="noStrike"/>
          </a:p>
        </p:txBody>
      </p:sp>
      <p:sp>
        <p:nvSpPr>
          <p:cNvPr id="156" name="Google Shape;156;p17"/>
          <p:cNvSpPr/>
          <p:nvPr/>
        </p:nvSpPr>
        <p:spPr>
          <a:xfrm>
            <a:off x="7479268" y="3851077"/>
            <a:ext cx="1812488"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FFFFFF"/>
              </a:buClr>
              <a:buSzPts val="1150"/>
              <a:buFont typeface="Overpass"/>
              <a:buNone/>
            </a:pPr>
            <a:r>
              <a:rPr b="1" i="0" lang="en-US" sz="1150" u="none" cap="none" strike="noStrike">
                <a:solidFill>
                  <a:srgbClr val="FFFFFF"/>
                </a:solidFill>
                <a:latin typeface="Overpass"/>
                <a:ea typeface="Overpass"/>
                <a:cs typeface="Overpass"/>
                <a:sym typeface="Overpass"/>
              </a:rPr>
              <a:t>Multi-Channel Integration</a:t>
            </a:r>
            <a:endParaRPr b="0" i="0" sz="1150" u="none" cap="none" strike="noStrike"/>
          </a:p>
        </p:txBody>
      </p:sp>
      <p:sp>
        <p:nvSpPr>
          <p:cNvPr id="157" name="Google Shape;157;p17"/>
          <p:cNvSpPr/>
          <p:nvPr/>
        </p:nvSpPr>
        <p:spPr>
          <a:xfrm>
            <a:off x="7479268" y="4118372"/>
            <a:ext cx="4605099" cy="8274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Modern retail requires integrating online, in-store, mobile app, and social commerce data into unified customer profiles. This enables consistent experiences regardless of where customers interact with the brand, plus sophisticated attribution modeling to understand which channels drive conversions.</a:t>
            </a:r>
            <a:endParaRPr b="0" i="0" sz="1000" u="none" cap="none" strike="noStrike"/>
          </a:p>
        </p:txBody>
      </p:sp>
      <p:sp>
        <p:nvSpPr>
          <p:cNvPr id="158" name="Google Shape;158;p17"/>
          <p:cNvSpPr/>
          <p:nvPr/>
        </p:nvSpPr>
        <p:spPr>
          <a:xfrm>
            <a:off x="2553653" y="5270421"/>
            <a:ext cx="3121938" cy="1681282"/>
          </a:xfrm>
          <a:prstGeom prst="roundRect">
            <a:avLst>
              <a:gd fmla="val 3205" name="adj"/>
            </a:avLst>
          </a:prstGeom>
          <a:solidFill>
            <a:srgbClr val="252222">
              <a:alpha val="94901"/>
            </a:srgbClr>
          </a:solidFill>
          <a:ln cap="flat" cmpd="sng" w="152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p:nvPr/>
        </p:nvSpPr>
        <p:spPr>
          <a:xfrm>
            <a:off x="2697123" y="5413891"/>
            <a:ext cx="1509474"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Dynamic Pricing</a:t>
            </a:r>
            <a:endParaRPr b="0" i="0" sz="1150" u="none" cap="none" strike="noStrike"/>
          </a:p>
        </p:txBody>
      </p:sp>
      <p:sp>
        <p:nvSpPr>
          <p:cNvPr id="160" name="Google Shape;160;p17"/>
          <p:cNvSpPr/>
          <p:nvPr/>
        </p:nvSpPr>
        <p:spPr>
          <a:xfrm>
            <a:off x="2697123" y="5649754"/>
            <a:ext cx="2834997" cy="9929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Machine learning models adjust prices in real-time based on competitor pricing, inventory levels, demand forecasts, and individual customer price sensitivity. Airlines pioneered this with yield management systems; now e-commerce giants adjust millions of SKUs daily.</a:t>
            </a:r>
            <a:endParaRPr b="0" i="0" sz="1000" u="none" cap="none" strike="noStrike"/>
          </a:p>
        </p:txBody>
      </p:sp>
      <p:sp>
        <p:nvSpPr>
          <p:cNvPr id="161" name="Google Shape;161;p17"/>
          <p:cNvSpPr/>
          <p:nvPr/>
        </p:nvSpPr>
        <p:spPr>
          <a:xfrm>
            <a:off x="5754172" y="5270421"/>
            <a:ext cx="3121938" cy="1681282"/>
          </a:xfrm>
          <a:prstGeom prst="roundRect">
            <a:avLst>
              <a:gd fmla="val 3205" name="adj"/>
            </a:avLst>
          </a:prstGeom>
          <a:solidFill>
            <a:srgbClr val="252222">
              <a:alpha val="94901"/>
            </a:srgbClr>
          </a:solidFill>
          <a:ln cap="flat" cmpd="sng" w="152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
          <p:cNvSpPr/>
          <p:nvPr/>
        </p:nvSpPr>
        <p:spPr>
          <a:xfrm>
            <a:off x="5897642" y="5413891"/>
            <a:ext cx="1620917"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Inventory Optimization</a:t>
            </a:r>
            <a:endParaRPr b="0" i="0" sz="1150" u="none" cap="none" strike="noStrike"/>
          </a:p>
        </p:txBody>
      </p:sp>
      <p:sp>
        <p:nvSpPr>
          <p:cNvPr id="163" name="Google Shape;163;p17"/>
          <p:cNvSpPr/>
          <p:nvPr/>
        </p:nvSpPr>
        <p:spPr>
          <a:xfrm>
            <a:off x="5897642" y="5649754"/>
            <a:ext cx="2834997" cy="9929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Predictive analytics forecasts demand at the SKU-store level, optimizing stock levels to balance service levels against holding costs. A 5% improvement in customer retention can boost net profit by approximately 25%—retention is dramatically more profitable than acquisition.</a:t>
            </a:r>
            <a:endParaRPr b="0" i="0" sz="1000" u="none" cap="none" strike="noStrike"/>
          </a:p>
        </p:txBody>
      </p:sp>
      <p:sp>
        <p:nvSpPr>
          <p:cNvPr id="164" name="Google Shape;164;p17"/>
          <p:cNvSpPr/>
          <p:nvPr/>
        </p:nvSpPr>
        <p:spPr>
          <a:xfrm>
            <a:off x="8954691" y="5270421"/>
            <a:ext cx="3121938" cy="1681282"/>
          </a:xfrm>
          <a:prstGeom prst="roundRect">
            <a:avLst>
              <a:gd fmla="val 3205" name="adj"/>
            </a:avLst>
          </a:prstGeom>
          <a:solidFill>
            <a:srgbClr val="252222">
              <a:alpha val="94901"/>
            </a:srgbClr>
          </a:solidFill>
          <a:ln cap="flat" cmpd="sng" w="152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a:off x="9098161" y="5413891"/>
            <a:ext cx="2256830" cy="188714"/>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Personalized Recommendations</a:t>
            </a:r>
            <a:endParaRPr b="0" i="0" sz="1150" u="none" cap="none" strike="noStrike"/>
          </a:p>
        </p:txBody>
      </p:sp>
      <p:sp>
        <p:nvSpPr>
          <p:cNvPr id="166" name="Google Shape;166;p17"/>
          <p:cNvSpPr/>
          <p:nvPr/>
        </p:nvSpPr>
        <p:spPr>
          <a:xfrm>
            <a:off x="9098161" y="5649754"/>
            <a:ext cx="2834997" cy="115847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Collaborative filtering and deep learning models analyze purchase histories, browsing behavior, and similar customers to suggest relevant products. Netflix estimates its recommendation engine saves $1 billion annually in prevented churn; similar ROI applies across retail categories.</a:t>
            </a:r>
            <a:endParaRPr b="0" i="0" sz="10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p:nvPr/>
        </p:nvSpPr>
        <p:spPr>
          <a:xfrm>
            <a:off x="3023473" y="1418868"/>
            <a:ext cx="4857512" cy="340162"/>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FFFFFF"/>
              </a:buClr>
              <a:buSzPts val="2100"/>
              <a:buFont typeface="Overpass"/>
              <a:buNone/>
            </a:pPr>
            <a:r>
              <a:rPr b="1" i="0" lang="en-US" sz="2100" u="none" cap="none" strike="noStrike">
                <a:solidFill>
                  <a:srgbClr val="FFFFFF"/>
                </a:solidFill>
                <a:latin typeface="Overpass"/>
                <a:ea typeface="Overpass"/>
                <a:cs typeface="Overpass"/>
                <a:sym typeface="Overpass"/>
              </a:rPr>
              <a:t>Manufacturing: Optimizing Operations</a:t>
            </a:r>
            <a:endParaRPr b="0" i="0" sz="2100" u="none" cap="none" strike="noStrike"/>
          </a:p>
        </p:txBody>
      </p:sp>
      <p:sp>
        <p:nvSpPr>
          <p:cNvPr id="173" name="Google Shape;173;p18"/>
          <p:cNvSpPr/>
          <p:nvPr/>
        </p:nvSpPr>
        <p:spPr>
          <a:xfrm>
            <a:off x="3023473" y="1886664"/>
            <a:ext cx="8583454" cy="286941"/>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Manufacturing represents data science's industrial revolution, where sensor networks, computer vision, and predictive analytics transform traditional production environments into smart factories. The focus is clear: maximize uptime, minimize defects, and optimize resource utilization through data-driven decision-making.</a:t>
            </a:r>
            <a:endParaRPr b="0" i="0" sz="900" u="none" cap="none" strike="noStrike"/>
          </a:p>
        </p:txBody>
      </p:sp>
      <p:sp>
        <p:nvSpPr>
          <p:cNvPr id="174" name="Google Shape;174;p18"/>
          <p:cNvSpPr/>
          <p:nvPr/>
        </p:nvSpPr>
        <p:spPr>
          <a:xfrm>
            <a:off x="3023473" y="2245400"/>
            <a:ext cx="115610" cy="14454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01</a:t>
            </a:r>
            <a:endParaRPr b="0" i="0" sz="900" u="none" cap="none" strike="noStrike"/>
          </a:p>
        </p:txBody>
      </p:sp>
      <p:sp>
        <p:nvSpPr>
          <p:cNvPr id="175" name="Google Shape;175;p18"/>
          <p:cNvSpPr/>
          <p:nvPr/>
        </p:nvSpPr>
        <p:spPr>
          <a:xfrm>
            <a:off x="3023473" y="2426613"/>
            <a:ext cx="4259818" cy="15240"/>
          </a:xfrm>
          <a:prstGeom prst="rect">
            <a:avLst/>
          </a:prstGeom>
          <a:solidFill>
            <a:srgbClr val="F20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8"/>
          <p:cNvSpPr/>
          <p:nvPr/>
        </p:nvSpPr>
        <p:spPr>
          <a:xfrm>
            <a:off x="3023473" y="2514838"/>
            <a:ext cx="1360527"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5E0DF"/>
              </a:buClr>
              <a:buSzPts val="1050"/>
              <a:buFont typeface="Overpass"/>
              <a:buNone/>
            </a:pPr>
            <a:r>
              <a:rPr b="1" i="0" lang="en-US" sz="1050" u="none" cap="none" strike="noStrike">
                <a:solidFill>
                  <a:srgbClr val="E5E0DF"/>
                </a:solidFill>
                <a:latin typeface="Overpass"/>
                <a:ea typeface="Overpass"/>
                <a:cs typeface="Overpass"/>
                <a:sym typeface="Overpass"/>
              </a:rPr>
              <a:t>Data Collection</a:t>
            </a:r>
            <a:endParaRPr b="0" i="0" sz="1050" u="none" cap="none" strike="noStrike"/>
          </a:p>
        </p:txBody>
      </p:sp>
      <p:sp>
        <p:nvSpPr>
          <p:cNvPr id="177" name="Google Shape;177;p18"/>
          <p:cNvSpPr/>
          <p:nvPr/>
        </p:nvSpPr>
        <p:spPr>
          <a:xfrm>
            <a:off x="3023473" y="2723078"/>
            <a:ext cx="4259818" cy="286941"/>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Sensors capture temperature, pressure, vibration, and performance metrics continuously</a:t>
            </a:r>
            <a:endParaRPr b="0" i="0" sz="900" u="none" cap="none" strike="noStrike"/>
          </a:p>
        </p:txBody>
      </p:sp>
      <p:sp>
        <p:nvSpPr>
          <p:cNvPr id="178" name="Google Shape;178;p18"/>
          <p:cNvSpPr/>
          <p:nvPr/>
        </p:nvSpPr>
        <p:spPr>
          <a:xfrm>
            <a:off x="7347109" y="2245400"/>
            <a:ext cx="115610" cy="14454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02</a:t>
            </a:r>
            <a:endParaRPr b="0" i="0" sz="900" u="none" cap="none" strike="noStrike"/>
          </a:p>
        </p:txBody>
      </p:sp>
      <p:sp>
        <p:nvSpPr>
          <p:cNvPr id="179" name="Google Shape;179;p18"/>
          <p:cNvSpPr/>
          <p:nvPr/>
        </p:nvSpPr>
        <p:spPr>
          <a:xfrm>
            <a:off x="7347109" y="2426613"/>
            <a:ext cx="4259818" cy="15240"/>
          </a:xfrm>
          <a:prstGeom prst="rect">
            <a:avLst/>
          </a:prstGeom>
          <a:solidFill>
            <a:srgbClr val="F20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
          <p:cNvSpPr/>
          <p:nvPr/>
        </p:nvSpPr>
        <p:spPr>
          <a:xfrm>
            <a:off x="7347109" y="2514838"/>
            <a:ext cx="1376958"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5E0DF"/>
              </a:buClr>
              <a:buSzPts val="1050"/>
              <a:buFont typeface="Overpass"/>
              <a:buNone/>
            </a:pPr>
            <a:r>
              <a:rPr b="1" i="0" lang="en-US" sz="1050" u="none" cap="none" strike="noStrike">
                <a:solidFill>
                  <a:srgbClr val="E5E0DF"/>
                </a:solidFill>
                <a:latin typeface="Overpass"/>
                <a:ea typeface="Overpass"/>
                <a:cs typeface="Overpass"/>
                <a:sym typeface="Overpass"/>
              </a:rPr>
              <a:t>Real-Time Processing</a:t>
            </a:r>
            <a:endParaRPr b="0" i="0" sz="1050" u="none" cap="none" strike="noStrike"/>
          </a:p>
        </p:txBody>
      </p:sp>
      <p:sp>
        <p:nvSpPr>
          <p:cNvPr id="181" name="Google Shape;181;p18"/>
          <p:cNvSpPr/>
          <p:nvPr/>
        </p:nvSpPr>
        <p:spPr>
          <a:xfrm>
            <a:off x="7347109" y="2723078"/>
            <a:ext cx="4259818" cy="14347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Stream processing systems analyze data as it arrives from factory floor equipment</a:t>
            </a:r>
            <a:endParaRPr b="0" i="0" sz="900" u="none" cap="none" strike="noStrike"/>
          </a:p>
        </p:txBody>
      </p:sp>
      <p:sp>
        <p:nvSpPr>
          <p:cNvPr id="182" name="Google Shape;182;p18"/>
          <p:cNvSpPr/>
          <p:nvPr/>
        </p:nvSpPr>
        <p:spPr>
          <a:xfrm>
            <a:off x="3023473" y="3160514"/>
            <a:ext cx="115610" cy="14454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03</a:t>
            </a:r>
            <a:endParaRPr b="0" i="0" sz="900" u="none" cap="none" strike="noStrike"/>
          </a:p>
        </p:txBody>
      </p:sp>
      <p:sp>
        <p:nvSpPr>
          <p:cNvPr id="183" name="Google Shape;183;p18"/>
          <p:cNvSpPr/>
          <p:nvPr/>
        </p:nvSpPr>
        <p:spPr>
          <a:xfrm>
            <a:off x="3023473" y="3341727"/>
            <a:ext cx="4259818" cy="15240"/>
          </a:xfrm>
          <a:prstGeom prst="rect">
            <a:avLst/>
          </a:prstGeom>
          <a:solidFill>
            <a:srgbClr val="F20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a:off x="3023473" y="3429953"/>
            <a:ext cx="1360527"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5E0DF"/>
              </a:buClr>
              <a:buSzPts val="1050"/>
              <a:buFont typeface="Overpass"/>
              <a:buNone/>
            </a:pPr>
            <a:r>
              <a:rPr b="1" i="0" lang="en-US" sz="1050" u="none" cap="none" strike="noStrike">
                <a:solidFill>
                  <a:srgbClr val="E5E0DF"/>
                </a:solidFill>
                <a:latin typeface="Overpass"/>
                <a:ea typeface="Overpass"/>
                <a:cs typeface="Overpass"/>
                <a:sym typeface="Overpass"/>
              </a:rPr>
              <a:t>Anomaly Detection</a:t>
            </a:r>
            <a:endParaRPr b="0" i="0" sz="1050" u="none" cap="none" strike="noStrike"/>
          </a:p>
        </p:txBody>
      </p:sp>
      <p:sp>
        <p:nvSpPr>
          <p:cNvPr id="185" name="Google Shape;185;p18"/>
          <p:cNvSpPr/>
          <p:nvPr/>
        </p:nvSpPr>
        <p:spPr>
          <a:xfrm>
            <a:off x="3023473" y="3638193"/>
            <a:ext cx="4259818" cy="14347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ML models identify deviations from normal patterns indicating potential issues</a:t>
            </a:r>
            <a:endParaRPr b="0" i="0" sz="900" u="none" cap="none" strike="noStrike"/>
          </a:p>
        </p:txBody>
      </p:sp>
      <p:sp>
        <p:nvSpPr>
          <p:cNvPr id="186" name="Google Shape;186;p18"/>
          <p:cNvSpPr/>
          <p:nvPr/>
        </p:nvSpPr>
        <p:spPr>
          <a:xfrm>
            <a:off x="7347109" y="3160514"/>
            <a:ext cx="115610" cy="14454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04</a:t>
            </a:r>
            <a:endParaRPr b="0" i="0" sz="900" u="none" cap="none" strike="noStrike"/>
          </a:p>
        </p:txBody>
      </p:sp>
      <p:sp>
        <p:nvSpPr>
          <p:cNvPr id="187" name="Google Shape;187;p18"/>
          <p:cNvSpPr/>
          <p:nvPr/>
        </p:nvSpPr>
        <p:spPr>
          <a:xfrm>
            <a:off x="7347109" y="3341727"/>
            <a:ext cx="4259818" cy="15240"/>
          </a:xfrm>
          <a:prstGeom prst="rect">
            <a:avLst/>
          </a:prstGeom>
          <a:solidFill>
            <a:srgbClr val="F20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
          <p:cNvSpPr/>
          <p:nvPr/>
        </p:nvSpPr>
        <p:spPr>
          <a:xfrm>
            <a:off x="7347109" y="3429953"/>
            <a:ext cx="1360527"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5E0DF"/>
              </a:buClr>
              <a:buSzPts val="1050"/>
              <a:buFont typeface="Overpass"/>
              <a:buNone/>
            </a:pPr>
            <a:r>
              <a:rPr b="1" i="0" lang="en-US" sz="1050" u="none" cap="none" strike="noStrike">
                <a:solidFill>
                  <a:srgbClr val="E5E0DF"/>
                </a:solidFill>
                <a:latin typeface="Overpass"/>
                <a:ea typeface="Overpass"/>
                <a:cs typeface="Overpass"/>
                <a:sym typeface="Overpass"/>
              </a:rPr>
              <a:t>Predictive Action</a:t>
            </a:r>
            <a:endParaRPr b="0" i="0" sz="1050" u="none" cap="none" strike="noStrike"/>
          </a:p>
        </p:txBody>
      </p:sp>
      <p:sp>
        <p:nvSpPr>
          <p:cNvPr id="189" name="Google Shape;189;p18"/>
          <p:cNvSpPr/>
          <p:nvPr/>
        </p:nvSpPr>
        <p:spPr>
          <a:xfrm>
            <a:off x="7347109" y="3638193"/>
            <a:ext cx="4259818" cy="14347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Maintenance scheduled before failures occur, optimizing resource allocation</a:t>
            </a:r>
            <a:endParaRPr b="0" i="0" sz="900" u="none" cap="none" strike="noStrike"/>
          </a:p>
        </p:txBody>
      </p:sp>
      <p:sp>
        <p:nvSpPr>
          <p:cNvPr id="190" name="Google Shape;190;p18"/>
          <p:cNvSpPr/>
          <p:nvPr/>
        </p:nvSpPr>
        <p:spPr>
          <a:xfrm>
            <a:off x="3023473" y="3940135"/>
            <a:ext cx="2818567" cy="1869758"/>
          </a:xfrm>
          <a:prstGeom prst="roundRect">
            <a:avLst>
              <a:gd fmla="val 2598"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
          <p:cNvSpPr/>
          <p:nvPr/>
        </p:nvSpPr>
        <p:spPr>
          <a:xfrm>
            <a:off x="3146703" y="4063365"/>
            <a:ext cx="346948" cy="346948"/>
          </a:xfrm>
          <a:prstGeom prst="roundRect">
            <a:avLst>
              <a:gd fmla="val 26352899" name="adj"/>
            </a:avLst>
          </a:prstGeom>
          <a:solidFill>
            <a:srgbClr val="F20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2" name="Google Shape;192;p18"/>
          <p:cNvPicPr preferRelativeResize="0"/>
          <p:nvPr/>
        </p:nvPicPr>
        <p:blipFill rotWithShape="1">
          <a:blip r:embed="rId3">
            <a:alphaModFix/>
          </a:blip>
          <a:srcRect b="0" l="0" r="0" t="0"/>
          <a:stretch/>
        </p:blipFill>
        <p:spPr>
          <a:xfrm>
            <a:off x="3242072" y="4158734"/>
            <a:ext cx="156091" cy="156091"/>
          </a:xfrm>
          <a:prstGeom prst="rect">
            <a:avLst/>
          </a:prstGeom>
          <a:noFill/>
          <a:ln>
            <a:noFill/>
          </a:ln>
        </p:spPr>
      </p:pic>
      <p:sp>
        <p:nvSpPr>
          <p:cNvPr id="193" name="Google Shape;193;p18"/>
          <p:cNvSpPr/>
          <p:nvPr/>
        </p:nvSpPr>
        <p:spPr>
          <a:xfrm>
            <a:off x="3146703" y="4474131"/>
            <a:ext cx="2468999"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5E0DF"/>
              </a:buClr>
              <a:buSzPts val="1050"/>
              <a:buFont typeface="Overpass"/>
              <a:buNone/>
            </a:pPr>
            <a:r>
              <a:rPr b="1" i="0" lang="en-US" sz="1050" u="none" cap="none" strike="noStrike">
                <a:solidFill>
                  <a:srgbClr val="E5E0DF"/>
                </a:solidFill>
                <a:latin typeface="Overpass"/>
                <a:ea typeface="Overpass"/>
                <a:cs typeface="Overpass"/>
                <a:sym typeface="Overpass"/>
              </a:rPr>
              <a:t>Overall Equipment Effectiveness (OEE)</a:t>
            </a:r>
            <a:endParaRPr b="0" i="0" sz="1050" u="none" cap="none" strike="noStrike"/>
          </a:p>
        </p:txBody>
      </p:sp>
      <p:sp>
        <p:nvSpPr>
          <p:cNvPr id="194" name="Google Shape;194;p18"/>
          <p:cNvSpPr/>
          <p:nvPr/>
        </p:nvSpPr>
        <p:spPr>
          <a:xfrm>
            <a:off x="3146703" y="4682371"/>
            <a:ext cx="2572107" cy="100429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Data science platforms monitor OEE components—availability, performance, and quality—in real-time, identifying bottlenecks and optimization opportunities. Manufacturers report 15-25% OEE improvements within the first year of implementation, directly translating to revenue increases.</a:t>
            </a:r>
            <a:endParaRPr b="0" i="0" sz="900" u="none" cap="none" strike="noStrike"/>
          </a:p>
        </p:txBody>
      </p:sp>
      <p:sp>
        <p:nvSpPr>
          <p:cNvPr id="195" name="Google Shape;195;p18"/>
          <p:cNvSpPr/>
          <p:nvPr/>
        </p:nvSpPr>
        <p:spPr>
          <a:xfrm>
            <a:off x="5905857" y="3940135"/>
            <a:ext cx="2818567" cy="1869758"/>
          </a:xfrm>
          <a:prstGeom prst="roundRect">
            <a:avLst>
              <a:gd fmla="val 2598"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
          <p:cNvSpPr/>
          <p:nvPr/>
        </p:nvSpPr>
        <p:spPr>
          <a:xfrm>
            <a:off x="6029087" y="4063365"/>
            <a:ext cx="346948" cy="346948"/>
          </a:xfrm>
          <a:prstGeom prst="roundRect">
            <a:avLst>
              <a:gd fmla="val 26352899" name="adj"/>
            </a:avLst>
          </a:prstGeom>
          <a:solidFill>
            <a:srgbClr val="F20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18"/>
          <p:cNvPicPr preferRelativeResize="0"/>
          <p:nvPr/>
        </p:nvPicPr>
        <p:blipFill rotWithShape="1">
          <a:blip r:embed="rId4">
            <a:alphaModFix/>
          </a:blip>
          <a:srcRect b="0" l="0" r="0" t="0"/>
          <a:stretch/>
        </p:blipFill>
        <p:spPr>
          <a:xfrm>
            <a:off x="6124456" y="4158734"/>
            <a:ext cx="156091" cy="156091"/>
          </a:xfrm>
          <a:prstGeom prst="rect">
            <a:avLst/>
          </a:prstGeom>
          <a:noFill/>
          <a:ln>
            <a:noFill/>
          </a:ln>
        </p:spPr>
      </p:pic>
      <p:sp>
        <p:nvSpPr>
          <p:cNvPr id="198" name="Google Shape;198;p18"/>
          <p:cNvSpPr/>
          <p:nvPr/>
        </p:nvSpPr>
        <p:spPr>
          <a:xfrm>
            <a:off x="6029087" y="4474131"/>
            <a:ext cx="1500307"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5E0DF"/>
              </a:buClr>
              <a:buSzPts val="1050"/>
              <a:buFont typeface="Overpass"/>
              <a:buNone/>
            </a:pPr>
            <a:r>
              <a:rPr b="1" i="0" lang="en-US" sz="1050" u="none" cap="none" strike="noStrike">
                <a:solidFill>
                  <a:srgbClr val="E5E0DF"/>
                </a:solidFill>
                <a:latin typeface="Overpass"/>
                <a:ea typeface="Overpass"/>
                <a:cs typeface="Overpass"/>
                <a:sym typeface="Overpass"/>
              </a:rPr>
              <a:t>Predictive Maintenance</a:t>
            </a:r>
            <a:endParaRPr b="0" i="0" sz="1050" u="none" cap="none" strike="noStrike"/>
          </a:p>
        </p:txBody>
      </p:sp>
      <p:sp>
        <p:nvSpPr>
          <p:cNvPr id="199" name="Google Shape;199;p18"/>
          <p:cNvSpPr/>
          <p:nvPr/>
        </p:nvSpPr>
        <p:spPr>
          <a:xfrm>
            <a:off x="6029087" y="4682371"/>
            <a:ext cx="2572107" cy="100429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Analyzing sensor data from motors, pumps, conveyors, and robotic systems to anticipate equipment failures before they occur. This shifts maintenance from reactive firefighting or calendar-based schedules to condition-based interventions, reducing downtime by 30-50% while extending equipment lifespans.</a:t>
            </a:r>
            <a:endParaRPr b="0" i="0" sz="900" u="none" cap="none" strike="noStrike"/>
          </a:p>
        </p:txBody>
      </p:sp>
      <p:sp>
        <p:nvSpPr>
          <p:cNvPr id="200" name="Google Shape;200;p18"/>
          <p:cNvSpPr/>
          <p:nvPr/>
        </p:nvSpPr>
        <p:spPr>
          <a:xfrm>
            <a:off x="8788241" y="3940135"/>
            <a:ext cx="2818686" cy="1869758"/>
          </a:xfrm>
          <a:prstGeom prst="roundRect">
            <a:avLst>
              <a:gd fmla="val 2598"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8"/>
          <p:cNvSpPr/>
          <p:nvPr/>
        </p:nvSpPr>
        <p:spPr>
          <a:xfrm>
            <a:off x="8911471" y="4063365"/>
            <a:ext cx="346948" cy="346948"/>
          </a:xfrm>
          <a:prstGeom prst="roundRect">
            <a:avLst>
              <a:gd fmla="val 26352899" name="adj"/>
            </a:avLst>
          </a:prstGeom>
          <a:solidFill>
            <a:srgbClr val="F203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 name="Google Shape;202;p18"/>
          <p:cNvPicPr preferRelativeResize="0"/>
          <p:nvPr/>
        </p:nvPicPr>
        <p:blipFill rotWithShape="1">
          <a:blip r:embed="rId5">
            <a:alphaModFix/>
          </a:blip>
          <a:srcRect b="0" l="0" r="0" t="0"/>
          <a:stretch/>
        </p:blipFill>
        <p:spPr>
          <a:xfrm>
            <a:off x="9006840" y="4158734"/>
            <a:ext cx="156091" cy="156091"/>
          </a:xfrm>
          <a:prstGeom prst="rect">
            <a:avLst/>
          </a:prstGeom>
          <a:noFill/>
          <a:ln>
            <a:noFill/>
          </a:ln>
        </p:spPr>
      </p:pic>
      <p:sp>
        <p:nvSpPr>
          <p:cNvPr id="203" name="Google Shape;203;p18"/>
          <p:cNvSpPr/>
          <p:nvPr/>
        </p:nvSpPr>
        <p:spPr>
          <a:xfrm>
            <a:off x="8911471" y="4474131"/>
            <a:ext cx="1360527"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5E0DF"/>
              </a:buClr>
              <a:buSzPts val="1050"/>
              <a:buFont typeface="Overpass"/>
              <a:buNone/>
            </a:pPr>
            <a:r>
              <a:rPr b="1" i="0" lang="en-US" sz="1050" u="none" cap="none" strike="noStrike">
                <a:solidFill>
                  <a:srgbClr val="E5E0DF"/>
                </a:solidFill>
                <a:latin typeface="Overpass"/>
                <a:ea typeface="Overpass"/>
                <a:cs typeface="Overpass"/>
                <a:sym typeface="Overpass"/>
              </a:rPr>
              <a:t>Quality Control</a:t>
            </a:r>
            <a:endParaRPr b="0" i="0" sz="1050" u="none" cap="none" strike="noStrike"/>
          </a:p>
        </p:txBody>
      </p:sp>
      <p:sp>
        <p:nvSpPr>
          <p:cNvPr id="204" name="Google Shape;204;p18"/>
          <p:cNvSpPr/>
          <p:nvPr/>
        </p:nvSpPr>
        <p:spPr>
          <a:xfrm>
            <a:off x="8911471" y="4682371"/>
            <a:ext cx="2572226" cy="1004292"/>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Computer vision systems with convolutional neural networks inspect products at line speed, identifying defects that human inspectors miss. These systems learn continuously from labeled examples, improving accuracy over time. Defect detection rates exceed 99% while false alarm rates drop below 1%.</a:t>
            </a:r>
            <a:endParaRPr b="0" i="0" sz="900" u="none" cap="none" strike="noStrike"/>
          </a:p>
        </p:txBody>
      </p:sp>
      <p:sp>
        <p:nvSpPr>
          <p:cNvPr id="205" name="Google Shape;205;p18"/>
          <p:cNvSpPr/>
          <p:nvPr/>
        </p:nvSpPr>
        <p:spPr>
          <a:xfrm>
            <a:off x="3023473" y="5945505"/>
            <a:ext cx="2122408"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FFFFFF"/>
              </a:buClr>
              <a:buSzPts val="1050"/>
              <a:buFont typeface="Overpass"/>
              <a:buNone/>
            </a:pPr>
            <a:r>
              <a:rPr b="1" i="0" lang="en-US" sz="1050" u="none" cap="none" strike="noStrike">
                <a:solidFill>
                  <a:srgbClr val="FFFFFF"/>
                </a:solidFill>
                <a:latin typeface="Overpass"/>
                <a:ea typeface="Overpass"/>
                <a:cs typeface="Overpass"/>
                <a:sym typeface="Overpass"/>
              </a:rPr>
              <a:t>Sensor Networks Enable Visibility</a:t>
            </a:r>
            <a:endParaRPr b="0" i="0" sz="1050" u="none" cap="none" strike="noStrike"/>
          </a:p>
        </p:txBody>
      </p:sp>
      <p:sp>
        <p:nvSpPr>
          <p:cNvPr id="206" name="Google Shape;206;p18"/>
          <p:cNvSpPr/>
          <p:nvPr/>
        </p:nvSpPr>
        <p:spPr>
          <a:xfrm>
            <a:off x="3023473" y="6179344"/>
            <a:ext cx="4150638" cy="573881"/>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Modern manufacturing equipment includes hundreds of sensors monitoring temperature, pressure, vibration, electrical characteristics, and performance metrics. This data streams continuously to analytics platforms, enabling real-time monitoring and historical analysis.</a:t>
            </a:r>
            <a:endParaRPr b="0" i="0" sz="900" u="none" cap="none" strike="noStrike"/>
          </a:p>
        </p:txBody>
      </p:sp>
      <p:sp>
        <p:nvSpPr>
          <p:cNvPr id="207" name="Google Shape;207;p18"/>
          <p:cNvSpPr/>
          <p:nvPr/>
        </p:nvSpPr>
        <p:spPr>
          <a:xfrm>
            <a:off x="7463909" y="5945505"/>
            <a:ext cx="1895237" cy="170021"/>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FFFFFF"/>
              </a:buClr>
              <a:buSzPts val="1050"/>
              <a:buFont typeface="Overpass"/>
              <a:buNone/>
            </a:pPr>
            <a:r>
              <a:rPr b="1" i="0" lang="en-US" sz="1050" u="none" cap="none" strike="noStrike">
                <a:solidFill>
                  <a:srgbClr val="FFFFFF"/>
                </a:solidFill>
                <a:latin typeface="Overpass"/>
                <a:ea typeface="Overpass"/>
                <a:cs typeface="Overpass"/>
                <a:sym typeface="Overpass"/>
              </a:rPr>
              <a:t>Reduced Mean Time to Repair</a:t>
            </a:r>
            <a:endParaRPr b="0" i="0" sz="1050" u="none" cap="none" strike="noStrike"/>
          </a:p>
        </p:txBody>
      </p:sp>
      <p:sp>
        <p:nvSpPr>
          <p:cNvPr id="208" name="Google Shape;208;p18"/>
          <p:cNvSpPr/>
          <p:nvPr/>
        </p:nvSpPr>
        <p:spPr>
          <a:xfrm>
            <a:off x="7463909" y="6179344"/>
            <a:ext cx="4150638" cy="430411"/>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E5E0DF"/>
              </a:buClr>
              <a:buSzPts val="900"/>
              <a:buFont typeface="Overpass"/>
              <a:buNone/>
            </a:pPr>
            <a:r>
              <a:rPr b="0" i="0" lang="en-US" sz="900" u="none" cap="none" strike="noStrike">
                <a:solidFill>
                  <a:srgbClr val="E5E0DF"/>
                </a:solidFill>
                <a:latin typeface="Overpass"/>
                <a:ea typeface="Overpass"/>
                <a:cs typeface="Overpass"/>
                <a:sym typeface="Overpass"/>
              </a:rPr>
              <a:t>Predictive maintenance identifies issues during planned downtime rather than unplanned outages. Maintenance teams receive specific fault codes and recommended actions, reducing mean time to repair by 40-60%.</a:t>
            </a:r>
            <a:endParaRPr b="0" i="0" sz="9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p:nvPr/>
        </p:nvSpPr>
        <p:spPr>
          <a:xfrm>
            <a:off x="1444823" y="1109067"/>
            <a:ext cx="4882158" cy="465177"/>
          </a:xfrm>
          <a:prstGeom prst="rect">
            <a:avLst/>
          </a:prstGeom>
          <a:noFill/>
          <a:ln>
            <a:noFill/>
          </a:ln>
        </p:spPr>
        <p:txBody>
          <a:bodyPr anchorCtr="0" anchor="t" bIns="0" lIns="0" spcFirstLastPara="1" rIns="0" wrap="square" tIns="0">
            <a:noAutofit/>
          </a:bodyPr>
          <a:lstStyle/>
          <a:p>
            <a:pPr indent="0" lvl="0" marL="0" marR="0" rtl="0" algn="l">
              <a:lnSpc>
                <a:spcPct val="125862"/>
              </a:lnSpc>
              <a:spcBef>
                <a:spcPts val="0"/>
              </a:spcBef>
              <a:spcAft>
                <a:spcPts val="0"/>
              </a:spcAft>
              <a:buClr>
                <a:srgbClr val="FFFFFF"/>
              </a:buClr>
              <a:buSzPts val="2900"/>
              <a:buFont typeface="Overpass"/>
              <a:buNone/>
            </a:pPr>
            <a:r>
              <a:rPr b="1" i="0" lang="en-US" sz="2900" u="none" cap="none" strike="noStrike">
                <a:solidFill>
                  <a:srgbClr val="FFFFFF"/>
                </a:solidFill>
                <a:latin typeface="Overpass"/>
                <a:ea typeface="Overpass"/>
                <a:cs typeface="Overpass"/>
                <a:sym typeface="Overpass"/>
              </a:rPr>
              <a:t>The Power of Deep Learning</a:t>
            </a:r>
            <a:endParaRPr b="0" i="0" sz="2900" u="none" cap="none" strike="noStrike"/>
          </a:p>
        </p:txBody>
      </p:sp>
      <p:sp>
        <p:nvSpPr>
          <p:cNvPr id="215" name="Google Shape;215;p19"/>
          <p:cNvSpPr/>
          <p:nvPr/>
        </p:nvSpPr>
        <p:spPr>
          <a:xfrm>
            <a:off x="1444823" y="1813084"/>
            <a:ext cx="11740753" cy="666512"/>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Deep learning—particularly convolutional neural networks (CNNs), recurrent neural networks (RNNs), and transformer architectures—represents the cutting edge of data science applications. These techniques excel at finding patterns in unstructured data (images, text, audio) and sequential data (time series, transactions, sequences), unlocking capabilities that were impossible with traditional machine learning.</a:t>
            </a:r>
            <a:endParaRPr b="0" i="0" sz="1200" u="none" cap="none" strike="noStrike"/>
          </a:p>
        </p:txBody>
      </p:sp>
      <p:pic>
        <p:nvPicPr>
          <p:cNvPr descr="preencoded.png" id="216" name="Google Shape;216;p19"/>
          <p:cNvPicPr preferRelativeResize="0"/>
          <p:nvPr/>
        </p:nvPicPr>
        <p:blipFill rotWithShape="1">
          <a:blip r:embed="rId3">
            <a:alphaModFix/>
          </a:blip>
          <a:srcRect b="0" l="0" r="0" t="0"/>
          <a:stretch/>
        </p:blipFill>
        <p:spPr>
          <a:xfrm>
            <a:off x="1444823" y="2613898"/>
            <a:ext cx="2746058" cy="1697117"/>
          </a:xfrm>
          <a:prstGeom prst="rect">
            <a:avLst/>
          </a:prstGeom>
          <a:noFill/>
          <a:ln>
            <a:noFill/>
          </a:ln>
        </p:spPr>
      </p:pic>
      <p:sp>
        <p:nvSpPr>
          <p:cNvPr id="217" name="Google Shape;217;p19"/>
          <p:cNvSpPr/>
          <p:nvPr/>
        </p:nvSpPr>
        <p:spPr>
          <a:xfrm>
            <a:off x="1444823" y="4460319"/>
            <a:ext cx="1861066" cy="232529"/>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E5E0DF"/>
              </a:buClr>
              <a:buSzPts val="1450"/>
              <a:buFont typeface="Overpass"/>
              <a:buNone/>
            </a:pPr>
            <a:r>
              <a:rPr b="1" i="0" lang="en-US" sz="1450" u="none" cap="none" strike="noStrike">
                <a:solidFill>
                  <a:srgbClr val="E5E0DF"/>
                </a:solidFill>
                <a:latin typeface="Overpass"/>
                <a:ea typeface="Overpass"/>
                <a:cs typeface="Overpass"/>
                <a:sym typeface="Overpass"/>
              </a:rPr>
              <a:t>Finance</a:t>
            </a:r>
            <a:endParaRPr b="0" i="0" sz="1450" u="none" cap="none" strike="noStrike"/>
          </a:p>
        </p:txBody>
      </p:sp>
      <p:sp>
        <p:nvSpPr>
          <p:cNvPr id="218" name="Google Shape;218;p19"/>
          <p:cNvSpPr/>
          <p:nvPr/>
        </p:nvSpPr>
        <p:spPr>
          <a:xfrm>
            <a:off x="1444825" y="4764525"/>
            <a:ext cx="3814200" cy="18429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Deep learning revolutionizes fraud detection by identifying subtle patterns across millions of transactions that traditional rules-based systems miss. In algorithmic trading, LSTM networks model temporal dependencies in price movements. Credit scoring incorporates unstructured data like bank statement images and social media activity.</a:t>
            </a:r>
            <a:endParaRPr b="0" i="0" sz="1200" u="none" cap="none" strike="noStrike"/>
          </a:p>
        </p:txBody>
      </p:sp>
      <p:pic>
        <p:nvPicPr>
          <p:cNvPr descr="preencoded.png" id="219" name="Google Shape;219;p19"/>
          <p:cNvPicPr preferRelativeResize="0"/>
          <p:nvPr/>
        </p:nvPicPr>
        <p:blipFill rotWithShape="1">
          <a:blip r:embed="rId4">
            <a:alphaModFix/>
          </a:blip>
          <a:srcRect b="0" l="0" r="0" t="0"/>
          <a:stretch/>
        </p:blipFill>
        <p:spPr>
          <a:xfrm>
            <a:off x="5408176" y="2613898"/>
            <a:ext cx="2746058" cy="1697117"/>
          </a:xfrm>
          <a:prstGeom prst="rect">
            <a:avLst/>
          </a:prstGeom>
          <a:noFill/>
          <a:ln>
            <a:noFill/>
          </a:ln>
        </p:spPr>
      </p:pic>
      <p:sp>
        <p:nvSpPr>
          <p:cNvPr id="220" name="Google Shape;220;p19"/>
          <p:cNvSpPr/>
          <p:nvPr/>
        </p:nvSpPr>
        <p:spPr>
          <a:xfrm>
            <a:off x="5408176" y="4460319"/>
            <a:ext cx="1861066" cy="232529"/>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E5E0DF"/>
              </a:buClr>
              <a:buSzPts val="1450"/>
              <a:buFont typeface="Overpass"/>
              <a:buNone/>
            </a:pPr>
            <a:r>
              <a:rPr b="1" i="0" lang="en-US" sz="1450" u="none" cap="none" strike="noStrike">
                <a:solidFill>
                  <a:srgbClr val="E5E0DF"/>
                </a:solidFill>
                <a:latin typeface="Overpass"/>
                <a:ea typeface="Overpass"/>
                <a:cs typeface="Overpass"/>
                <a:sym typeface="Overpass"/>
              </a:rPr>
              <a:t>Healthcare</a:t>
            </a:r>
            <a:endParaRPr b="0" i="0" sz="1450" u="none" cap="none" strike="noStrike"/>
          </a:p>
        </p:txBody>
      </p:sp>
      <p:sp>
        <p:nvSpPr>
          <p:cNvPr id="221" name="Google Shape;221;p19"/>
          <p:cNvSpPr/>
          <p:nvPr/>
        </p:nvSpPr>
        <p:spPr>
          <a:xfrm>
            <a:off x="5408175" y="4764525"/>
            <a:ext cx="3814200" cy="18429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CNNs match or exceed human radiologists in detecting tumors, fractures, and anomalies in X-rays, MRIs, and CT scans. These networks identify subtle patterns that human eyes might miss, particularly in early-stage cancers where treatment outcomes are most favorable. Drug discovery leverages deep learning to predict molecular interactions.</a:t>
            </a:r>
            <a:endParaRPr b="0" i="0" sz="1200" u="none" cap="none" strike="noStrike"/>
          </a:p>
        </p:txBody>
      </p:sp>
      <p:pic>
        <p:nvPicPr>
          <p:cNvPr descr="preencoded.png" id="222" name="Google Shape;222;p19"/>
          <p:cNvPicPr preferRelativeResize="0"/>
          <p:nvPr/>
        </p:nvPicPr>
        <p:blipFill rotWithShape="1">
          <a:blip r:embed="rId5">
            <a:alphaModFix/>
          </a:blip>
          <a:srcRect b="0" l="0" r="0" t="0"/>
          <a:stretch/>
        </p:blipFill>
        <p:spPr>
          <a:xfrm>
            <a:off x="9371528" y="2613898"/>
            <a:ext cx="2746058" cy="1697117"/>
          </a:xfrm>
          <a:prstGeom prst="rect">
            <a:avLst/>
          </a:prstGeom>
          <a:noFill/>
          <a:ln>
            <a:noFill/>
          </a:ln>
        </p:spPr>
      </p:pic>
      <p:sp>
        <p:nvSpPr>
          <p:cNvPr id="223" name="Google Shape;223;p19"/>
          <p:cNvSpPr/>
          <p:nvPr/>
        </p:nvSpPr>
        <p:spPr>
          <a:xfrm>
            <a:off x="9371528" y="4460319"/>
            <a:ext cx="1861066" cy="232529"/>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E5E0DF"/>
              </a:buClr>
              <a:buSzPts val="1450"/>
              <a:buFont typeface="Overpass"/>
              <a:buNone/>
            </a:pPr>
            <a:r>
              <a:rPr b="1" i="0" lang="en-US" sz="1450" u="none" cap="none" strike="noStrike">
                <a:solidFill>
                  <a:srgbClr val="E5E0DF"/>
                </a:solidFill>
                <a:latin typeface="Overpass"/>
                <a:ea typeface="Overpass"/>
                <a:cs typeface="Overpass"/>
                <a:sym typeface="Overpass"/>
              </a:rPr>
              <a:t>Retail</a:t>
            </a:r>
            <a:endParaRPr b="0" i="0" sz="1450" u="none" cap="none" strike="noStrike"/>
          </a:p>
        </p:txBody>
      </p:sp>
      <p:sp>
        <p:nvSpPr>
          <p:cNvPr id="224" name="Google Shape;224;p19"/>
          <p:cNvSpPr/>
          <p:nvPr/>
        </p:nvSpPr>
        <p:spPr>
          <a:xfrm>
            <a:off x="9388493" y="4764525"/>
            <a:ext cx="3814200" cy="18429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Deep learning enables personalized customer experiences by analyzing browsing behavior, purchase histories, and similar customer patterns. Recommendation engines suggest relevant products with high accuracy. Computer vision systems track inventory levels and customer movements through stores, optimizing layouts and staffing.</a:t>
            </a:r>
            <a:endParaRPr b="0" i="0" sz="1200" u="none" cap="none" strike="noStrike"/>
          </a:p>
        </p:txBody>
      </p:sp>
      <p:sp>
        <p:nvSpPr>
          <p:cNvPr id="225" name="Google Shape;225;p19"/>
          <p:cNvSpPr/>
          <p:nvPr/>
        </p:nvSpPr>
        <p:spPr>
          <a:xfrm>
            <a:off x="1444798" y="6878221"/>
            <a:ext cx="11740800" cy="6666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5E0DF"/>
              </a:buClr>
              <a:buSzPts val="1200"/>
              <a:buFont typeface="Overpass"/>
              <a:buNone/>
            </a:pPr>
            <a:r>
              <a:rPr b="0" i="0" lang="en-US" sz="1200" u="none" cap="none" strike="noStrike">
                <a:solidFill>
                  <a:srgbClr val="E5E0DF"/>
                </a:solidFill>
                <a:latin typeface="Overpass"/>
                <a:ea typeface="Overpass"/>
                <a:cs typeface="Overpass"/>
                <a:sym typeface="Overpass"/>
              </a:rPr>
              <a:t>The common thread across all three industries: deep learning handles high-dimensional, unstructured data that traditional machine learning struggles with. Where conventional models require manual feature engineering, deep learning networks learn optimal representations directly from raw inputs—whether that's pixel values in medical images, transaction sequences in fraud detection, or product descriptions in recommendation systems.</a:t>
            </a:r>
            <a:endParaRPr b="0" i="0" sz="12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p:nvPr/>
        </p:nvSpPr>
        <p:spPr>
          <a:xfrm>
            <a:off x="2596396" y="1437203"/>
            <a:ext cx="5316617" cy="373975"/>
          </a:xfrm>
          <a:prstGeom prst="rect">
            <a:avLst/>
          </a:prstGeom>
          <a:noFill/>
          <a:ln>
            <a:noFill/>
          </a:ln>
        </p:spPr>
        <p:txBody>
          <a:bodyPr anchorCtr="0" anchor="t" bIns="0" lIns="0" spcFirstLastPara="1" rIns="0" wrap="square" tIns="0">
            <a:noAutofit/>
          </a:bodyPr>
          <a:lstStyle/>
          <a:p>
            <a:pPr indent="0" lvl="0" marL="0" marR="0" rtl="0" algn="l">
              <a:lnSpc>
                <a:spcPct val="123404"/>
              </a:lnSpc>
              <a:spcBef>
                <a:spcPts val="0"/>
              </a:spcBef>
              <a:spcAft>
                <a:spcPts val="0"/>
              </a:spcAft>
              <a:buClr>
                <a:srgbClr val="FFFFFF"/>
              </a:buClr>
              <a:buSzPts val="2350"/>
              <a:buFont typeface="Overpass"/>
              <a:buNone/>
            </a:pPr>
            <a:r>
              <a:rPr b="1" i="0" lang="en-US" sz="2350" u="none" cap="none" strike="noStrike">
                <a:solidFill>
                  <a:srgbClr val="FFFFFF"/>
                </a:solidFill>
                <a:latin typeface="Overpass"/>
                <a:ea typeface="Overpass"/>
                <a:cs typeface="Overpass"/>
                <a:sym typeface="Overpass"/>
              </a:rPr>
              <a:t>Key ML Techniques Driving Innovation</a:t>
            </a:r>
            <a:endParaRPr b="0" i="0" sz="2350" u="none" cap="none" strike="noStrike"/>
          </a:p>
        </p:txBody>
      </p:sp>
      <p:sp>
        <p:nvSpPr>
          <p:cNvPr id="232" name="Google Shape;232;p20"/>
          <p:cNvSpPr/>
          <p:nvPr/>
        </p:nvSpPr>
        <p:spPr>
          <a:xfrm>
            <a:off x="2596396" y="1965484"/>
            <a:ext cx="9437489"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0" i="0" lang="en-US" sz="1000" u="none" cap="none" strike="noStrike">
                <a:solidFill>
                  <a:srgbClr val="E5E0DF"/>
                </a:solidFill>
                <a:latin typeface="Overpass"/>
                <a:ea typeface="Overpass"/>
                <a:cs typeface="Overpass"/>
                <a:sym typeface="Overpass"/>
              </a:rPr>
              <a:t>Understanding which machine learning techniques apply to specific business problems is essential for effective data science implementation. Different algorithmic approaches excel at different tasks, and successful organizations build diverse technical capabilities rather than relying on a single "silver bullet" methodology.</a:t>
            </a:r>
            <a:endParaRPr b="0" i="0" sz="1000" u="none" cap="none" strike="noStrike"/>
          </a:p>
        </p:txBody>
      </p:sp>
      <p:sp>
        <p:nvSpPr>
          <p:cNvPr id="233" name="Google Shape;233;p20"/>
          <p:cNvSpPr/>
          <p:nvPr/>
        </p:nvSpPr>
        <p:spPr>
          <a:xfrm>
            <a:off x="2596396" y="2379226"/>
            <a:ext cx="4680109" cy="2249686"/>
          </a:xfrm>
          <a:prstGeom prst="roundRect">
            <a:avLst>
              <a:gd fmla="val 2374" name="adj"/>
            </a:avLst>
          </a:prstGeom>
          <a:solidFill>
            <a:srgbClr val="252222">
              <a:alpha val="94901"/>
            </a:srgbClr>
          </a:solidFill>
          <a:ln cap="flat" cmpd="sng" w="152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0"/>
          <p:cNvSpPr/>
          <p:nvPr/>
        </p:nvSpPr>
        <p:spPr>
          <a:xfrm>
            <a:off x="2611636" y="2394466"/>
            <a:ext cx="4649629" cy="381357"/>
          </a:xfrm>
          <a:prstGeom prst="roundRect">
            <a:avLst>
              <a:gd fmla="val 9209" name="adj"/>
            </a:avLst>
          </a:prstGeom>
          <a:solidFill>
            <a:srgbClr val="7E0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20"/>
          <p:cNvPicPr preferRelativeResize="0"/>
          <p:nvPr/>
        </p:nvPicPr>
        <p:blipFill rotWithShape="1">
          <a:blip r:embed="rId3">
            <a:alphaModFix/>
          </a:blip>
          <a:srcRect b="0" l="0" r="0" t="0"/>
          <a:stretch/>
        </p:blipFill>
        <p:spPr>
          <a:xfrm>
            <a:off x="4841081" y="2485906"/>
            <a:ext cx="190619" cy="190619"/>
          </a:xfrm>
          <a:prstGeom prst="rect">
            <a:avLst/>
          </a:prstGeom>
          <a:noFill/>
          <a:ln>
            <a:noFill/>
          </a:ln>
        </p:spPr>
      </p:pic>
      <p:sp>
        <p:nvSpPr>
          <p:cNvPr id="236" name="Google Shape;236;p20"/>
          <p:cNvSpPr/>
          <p:nvPr/>
        </p:nvSpPr>
        <p:spPr>
          <a:xfrm>
            <a:off x="2738676" y="2852976"/>
            <a:ext cx="1495901" cy="186928"/>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Supervised Learning</a:t>
            </a:r>
            <a:endParaRPr b="0" i="0" sz="1150" u="none" cap="none" strike="noStrike"/>
          </a:p>
        </p:txBody>
      </p:sp>
      <p:sp>
        <p:nvSpPr>
          <p:cNvPr id="237" name="Google Shape;237;p20"/>
          <p:cNvSpPr/>
          <p:nvPr/>
        </p:nvSpPr>
        <p:spPr>
          <a:xfrm>
            <a:off x="2738676" y="3086219"/>
            <a:ext cx="4395549"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Applications:</a:t>
            </a:r>
            <a:r>
              <a:rPr b="0" i="0" lang="en-US" sz="1000" u="none" cap="none" strike="noStrike">
                <a:solidFill>
                  <a:srgbClr val="E5E0DF"/>
                </a:solidFill>
                <a:latin typeface="Overpass"/>
                <a:ea typeface="Overpass"/>
                <a:cs typeface="Overpass"/>
                <a:sym typeface="Overpass"/>
              </a:rPr>
              <a:t xml:space="preserve"> Credit risk assessment, medical image classification, fraud detection, customer churn prediction</a:t>
            </a:r>
            <a:endParaRPr b="0" i="0" sz="1000" u="none" cap="none" strike="noStrike"/>
          </a:p>
        </p:txBody>
      </p:sp>
      <p:sp>
        <p:nvSpPr>
          <p:cNvPr id="238" name="Google Shape;238;p20"/>
          <p:cNvSpPr/>
          <p:nvPr/>
        </p:nvSpPr>
        <p:spPr>
          <a:xfrm>
            <a:off x="2738676" y="3459480"/>
            <a:ext cx="4395549" cy="49041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How It Works:</a:t>
            </a:r>
            <a:r>
              <a:rPr b="0" i="0" lang="en-US" sz="1000" u="none" cap="none" strike="noStrike">
                <a:solidFill>
                  <a:srgbClr val="E5E0DF"/>
                </a:solidFill>
                <a:latin typeface="Overpass"/>
                <a:ea typeface="Overpass"/>
                <a:cs typeface="Overpass"/>
                <a:sym typeface="Overpass"/>
              </a:rPr>
              <a:t xml:space="preserve"> Models learn from labeled training data, mapping input features to known outcomes. Once trained, models predict outcomes for new unseen data with quantifiable accuracy metrics.</a:t>
            </a:r>
            <a:endParaRPr b="0" i="0" sz="1000" u="none" cap="none" strike="noStrike"/>
          </a:p>
        </p:txBody>
      </p:sp>
      <p:sp>
        <p:nvSpPr>
          <p:cNvPr id="239" name="Google Shape;239;p20"/>
          <p:cNvSpPr/>
          <p:nvPr/>
        </p:nvSpPr>
        <p:spPr>
          <a:xfrm>
            <a:off x="2738676" y="3996214"/>
            <a:ext cx="4395549" cy="49041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Common Algorithms:</a:t>
            </a:r>
            <a:r>
              <a:rPr b="0" i="0" lang="en-US" sz="1000" u="none" cap="none" strike="noStrike">
                <a:solidFill>
                  <a:srgbClr val="E5E0DF"/>
                </a:solidFill>
                <a:latin typeface="Overpass"/>
                <a:ea typeface="Overpass"/>
                <a:cs typeface="Overpass"/>
                <a:sym typeface="Overpass"/>
              </a:rPr>
              <a:t xml:space="preserve"> Logistic regression, random forests, gradient boosted decision trees (XGBoost, LightGBM), support vector machines, neural networks</a:t>
            </a:r>
            <a:endParaRPr b="0" i="0" sz="1000" u="none" cap="none" strike="noStrike"/>
          </a:p>
        </p:txBody>
      </p:sp>
      <p:sp>
        <p:nvSpPr>
          <p:cNvPr id="240" name="Google Shape;240;p20"/>
          <p:cNvSpPr/>
          <p:nvPr/>
        </p:nvSpPr>
        <p:spPr>
          <a:xfrm>
            <a:off x="7353657" y="2379226"/>
            <a:ext cx="4680228" cy="2249686"/>
          </a:xfrm>
          <a:prstGeom prst="roundRect">
            <a:avLst>
              <a:gd fmla="val 2374" name="adj"/>
            </a:avLst>
          </a:prstGeom>
          <a:solidFill>
            <a:srgbClr val="252222">
              <a:alpha val="94901"/>
            </a:srgbClr>
          </a:solidFill>
          <a:ln cap="flat" cmpd="sng" w="152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0"/>
          <p:cNvSpPr/>
          <p:nvPr/>
        </p:nvSpPr>
        <p:spPr>
          <a:xfrm>
            <a:off x="7368897" y="2394466"/>
            <a:ext cx="4649748" cy="381357"/>
          </a:xfrm>
          <a:prstGeom prst="roundRect">
            <a:avLst>
              <a:gd fmla="val 9209" name="adj"/>
            </a:avLst>
          </a:prstGeom>
          <a:solidFill>
            <a:srgbClr val="7E0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2" name="Google Shape;242;p20"/>
          <p:cNvPicPr preferRelativeResize="0"/>
          <p:nvPr/>
        </p:nvPicPr>
        <p:blipFill rotWithShape="1">
          <a:blip r:embed="rId4">
            <a:alphaModFix/>
          </a:blip>
          <a:srcRect b="0" l="0" r="0" t="0"/>
          <a:stretch/>
        </p:blipFill>
        <p:spPr>
          <a:xfrm>
            <a:off x="9598462" y="2485906"/>
            <a:ext cx="190619" cy="190619"/>
          </a:xfrm>
          <a:prstGeom prst="rect">
            <a:avLst/>
          </a:prstGeom>
          <a:noFill/>
          <a:ln>
            <a:noFill/>
          </a:ln>
        </p:spPr>
      </p:pic>
      <p:sp>
        <p:nvSpPr>
          <p:cNvPr id="243" name="Google Shape;243;p20"/>
          <p:cNvSpPr/>
          <p:nvPr/>
        </p:nvSpPr>
        <p:spPr>
          <a:xfrm>
            <a:off x="7495937" y="2852976"/>
            <a:ext cx="1616512" cy="186928"/>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Unsupervised Learning</a:t>
            </a:r>
            <a:endParaRPr b="0" i="0" sz="1150" u="none" cap="none" strike="noStrike"/>
          </a:p>
        </p:txBody>
      </p:sp>
      <p:sp>
        <p:nvSpPr>
          <p:cNvPr id="244" name="Google Shape;244;p20"/>
          <p:cNvSpPr/>
          <p:nvPr/>
        </p:nvSpPr>
        <p:spPr>
          <a:xfrm>
            <a:off x="7495937" y="3086219"/>
            <a:ext cx="4395668"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Applications:</a:t>
            </a:r>
            <a:r>
              <a:rPr b="0" i="0" lang="en-US" sz="1000" u="none" cap="none" strike="noStrike">
                <a:solidFill>
                  <a:srgbClr val="E5E0DF"/>
                </a:solidFill>
                <a:latin typeface="Overpass"/>
                <a:ea typeface="Overpass"/>
                <a:cs typeface="Overpass"/>
                <a:sym typeface="Overpass"/>
              </a:rPr>
              <a:t xml:space="preserve"> Customer segmentation, anomaly detection, recommendation systems, topic modeling in text</a:t>
            </a:r>
            <a:endParaRPr b="0" i="0" sz="1000" u="none" cap="none" strike="noStrike"/>
          </a:p>
        </p:txBody>
      </p:sp>
      <p:sp>
        <p:nvSpPr>
          <p:cNvPr id="245" name="Google Shape;245;p20"/>
          <p:cNvSpPr/>
          <p:nvPr/>
        </p:nvSpPr>
        <p:spPr>
          <a:xfrm>
            <a:off x="7495937" y="3459480"/>
            <a:ext cx="4395668" cy="49041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How It Works:</a:t>
            </a:r>
            <a:r>
              <a:rPr b="0" i="0" lang="en-US" sz="1000" u="none" cap="none" strike="noStrike">
                <a:solidFill>
                  <a:srgbClr val="E5E0DF"/>
                </a:solidFill>
                <a:latin typeface="Overpass"/>
                <a:ea typeface="Overpass"/>
                <a:cs typeface="Overpass"/>
                <a:sym typeface="Overpass"/>
              </a:rPr>
              <a:t xml:space="preserve"> Models identify hidden patterns and structures in data without predefined labels. Particularly valuable for exploratory analysis and discovering unknown relationships.</a:t>
            </a:r>
            <a:endParaRPr b="0" i="0" sz="1000" u="none" cap="none" strike="noStrike"/>
          </a:p>
        </p:txBody>
      </p:sp>
      <p:sp>
        <p:nvSpPr>
          <p:cNvPr id="246" name="Google Shape;246;p20"/>
          <p:cNvSpPr/>
          <p:nvPr/>
        </p:nvSpPr>
        <p:spPr>
          <a:xfrm>
            <a:off x="7495937" y="3996214"/>
            <a:ext cx="4395668"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Common Algorithms:</a:t>
            </a:r>
            <a:r>
              <a:rPr b="0" i="0" lang="en-US" sz="1000" u="none" cap="none" strike="noStrike">
                <a:solidFill>
                  <a:srgbClr val="E5E0DF"/>
                </a:solidFill>
                <a:latin typeface="Overpass"/>
                <a:ea typeface="Overpass"/>
                <a:cs typeface="Overpass"/>
                <a:sym typeface="Overpass"/>
              </a:rPr>
              <a:t xml:space="preserve"> K-means clustering, hierarchical clustering, principal component analysis (PCA), autoencoders, Gaussian mixture models</a:t>
            </a:r>
            <a:endParaRPr b="0" i="0" sz="1000" u="none" cap="none" strike="noStrike"/>
          </a:p>
        </p:txBody>
      </p:sp>
      <p:sp>
        <p:nvSpPr>
          <p:cNvPr id="247" name="Google Shape;247;p20"/>
          <p:cNvSpPr/>
          <p:nvPr/>
        </p:nvSpPr>
        <p:spPr>
          <a:xfrm>
            <a:off x="2596396" y="4706064"/>
            <a:ext cx="4680109" cy="2086213"/>
          </a:xfrm>
          <a:prstGeom prst="roundRect">
            <a:avLst>
              <a:gd fmla="val 2560" name="adj"/>
            </a:avLst>
          </a:prstGeom>
          <a:solidFill>
            <a:srgbClr val="252222">
              <a:alpha val="94901"/>
            </a:srgbClr>
          </a:solidFill>
          <a:ln cap="flat" cmpd="sng" w="152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0"/>
          <p:cNvSpPr/>
          <p:nvPr/>
        </p:nvSpPr>
        <p:spPr>
          <a:xfrm>
            <a:off x="2611636" y="4721304"/>
            <a:ext cx="4649629" cy="381357"/>
          </a:xfrm>
          <a:prstGeom prst="roundRect">
            <a:avLst>
              <a:gd fmla="val 9209" name="adj"/>
            </a:avLst>
          </a:prstGeom>
          <a:solidFill>
            <a:srgbClr val="7E0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9" name="Google Shape;249;p20"/>
          <p:cNvPicPr preferRelativeResize="0"/>
          <p:nvPr/>
        </p:nvPicPr>
        <p:blipFill rotWithShape="1">
          <a:blip r:embed="rId5">
            <a:alphaModFix/>
          </a:blip>
          <a:srcRect b="0" l="0" r="0" t="0"/>
          <a:stretch/>
        </p:blipFill>
        <p:spPr>
          <a:xfrm>
            <a:off x="4841081" y="4812744"/>
            <a:ext cx="190619" cy="190619"/>
          </a:xfrm>
          <a:prstGeom prst="rect">
            <a:avLst/>
          </a:prstGeom>
          <a:noFill/>
          <a:ln>
            <a:noFill/>
          </a:ln>
        </p:spPr>
      </p:pic>
      <p:sp>
        <p:nvSpPr>
          <p:cNvPr id="250" name="Google Shape;250;p20"/>
          <p:cNvSpPr/>
          <p:nvPr/>
        </p:nvSpPr>
        <p:spPr>
          <a:xfrm>
            <a:off x="2738676" y="5179814"/>
            <a:ext cx="2012990" cy="186928"/>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Deep Learning (CNNs, RNNs)</a:t>
            </a:r>
            <a:endParaRPr b="0" i="0" sz="1150" u="none" cap="none" strike="noStrike"/>
          </a:p>
        </p:txBody>
      </p:sp>
      <p:sp>
        <p:nvSpPr>
          <p:cNvPr id="251" name="Google Shape;251;p20"/>
          <p:cNvSpPr/>
          <p:nvPr/>
        </p:nvSpPr>
        <p:spPr>
          <a:xfrm>
            <a:off x="2738676" y="5413058"/>
            <a:ext cx="4395549"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Applications:</a:t>
            </a:r>
            <a:r>
              <a:rPr b="0" i="0" lang="en-US" sz="1000" u="none" cap="none" strike="noStrike">
                <a:solidFill>
                  <a:srgbClr val="E5E0DF"/>
                </a:solidFill>
                <a:latin typeface="Overpass"/>
                <a:ea typeface="Overpass"/>
                <a:cs typeface="Overpass"/>
                <a:sym typeface="Overpass"/>
              </a:rPr>
              <a:t xml:space="preserve"> Image recognition, natural language processing, speech recognition, time series forecasting, generative modeling</a:t>
            </a:r>
            <a:endParaRPr b="0" i="0" sz="1000" u="none" cap="none" strike="noStrike"/>
          </a:p>
        </p:txBody>
      </p:sp>
      <p:sp>
        <p:nvSpPr>
          <p:cNvPr id="252" name="Google Shape;252;p20"/>
          <p:cNvSpPr/>
          <p:nvPr/>
        </p:nvSpPr>
        <p:spPr>
          <a:xfrm>
            <a:off x="2738676" y="5786318"/>
            <a:ext cx="4395549" cy="49041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How It Works:</a:t>
            </a:r>
            <a:r>
              <a:rPr b="0" i="0" lang="en-US" sz="1000" u="none" cap="none" strike="noStrike">
                <a:solidFill>
                  <a:srgbClr val="E5E0DF"/>
                </a:solidFill>
                <a:latin typeface="Overpass"/>
                <a:ea typeface="Overpass"/>
                <a:cs typeface="Overpass"/>
                <a:sym typeface="Overpass"/>
              </a:rPr>
              <a:t xml:space="preserve"> Multi-layer neural networks learn hierarchical representations automatically from raw data. Convolutional networks excel at spatial patterns; recurrent networks handle sequences.</a:t>
            </a:r>
            <a:endParaRPr b="0" i="0" sz="1000" u="none" cap="none" strike="noStrike"/>
          </a:p>
        </p:txBody>
      </p:sp>
      <p:sp>
        <p:nvSpPr>
          <p:cNvPr id="253" name="Google Shape;253;p20"/>
          <p:cNvSpPr/>
          <p:nvPr/>
        </p:nvSpPr>
        <p:spPr>
          <a:xfrm>
            <a:off x="2738676" y="6323052"/>
            <a:ext cx="4395549"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Common Frameworks:</a:t>
            </a:r>
            <a:r>
              <a:rPr b="0" i="0" lang="en-US" sz="1000" u="none" cap="none" strike="noStrike">
                <a:solidFill>
                  <a:srgbClr val="E5E0DF"/>
                </a:solidFill>
                <a:latin typeface="Overpass"/>
                <a:ea typeface="Overpass"/>
                <a:cs typeface="Overpass"/>
                <a:sym typeface="Overpass"/>
              </a:rPr>
              <a:t xml:space="preserve"> TensorFlow, PyTorch, Keras with architectures like ResNet, BERT, LSTM, Transformer</a:t>
            </a:r>
            <a:endParaRPr b="0" i="0" sz="1000" u="none" cap="none" strike="noStrike"/>
          </a:p>
        </p:txBody>
      </p:sp>
      <p:sp>
        <p:nvSpPr>
          <p:cNvPr id="254" name="Google Shape;254;p20"/>
          <p:cNvSpPr/>
          <p:nvPr/>
        </p:nvSpPr>
        <p:spPr>
          <a:xfrm>
            <a:off x="7353657" y="4706064"/>
            <a:ext cx="4680228" cy="2086213"/>
          </a:xfrm>
          <a:prstGeom prst="roundRect">
            <a:avLst>
              <a:gd fmla="val 2560" name="adj"/>
            </a:avLst>
          </a:prstGeom>
          <a:solidFill>
            <a:srgbClr val="252222">
              <a:alpha val="94901"/>
            </a:srgbClr>
          </a:solidFill>
          <a:ln cap="flat" cmpd="sng" w="152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0"/>
          <p:cNvSpPr/>
          <p:nvPr/>
        </p:nvSpPr>
        <p:spPr>
          <a:xfrm>
            <a:off x="7368897" y="4721304"/>
            <a:ext cx="4649748" cy="381357"/>
          </a:xfrm>
          <a:prstGeom prst="roundRect">
            <a:avLst>
              <a:gd fmla="val 9209" name="adj"/>
            </a:avLst>
          </a:prstGeom>
          <a:solidFill>
            <a:srgbClr val="7E0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6" name="Google Shape;256;p20"/>
          <p:cNvPicPr preferRelativeResize="0"/>
          <p:nvPr/>
        </p:nvPicPr>
        <p:blipFill rotWithShape="1">
          <a:blip r:embed="rId6">
            <a:alphaModFix/>
          </a:blip>
          <a:srcRect b="0" l="0" r="0" t="0"/>
          <a:stretch/>
        </p:blipFill>
        <p:spPr>
          <a:xfrm>
            <a:off x="9598462" y="4812744"/>
            <a:ext cx="190619" cy="190619"/>
          </a:xfrm>
          <a:prstGeom prst="rect">
            <a:avLst/>
          </a:prstGeom>
          <a:noFill/>
          <a:ln>
            <a:noFill/>
          </a:ln>
        </p:spPr>
      </p:pic>
      <p:sp>
        <p:nvSpPr>
          <p:cNvPr id="257" name="Google Shape;257;p20"/>
          <p:cNvSpPr/>
          <p:nvPr/>
        </p:nvSpPr>
        <p:spPr>
          <a:xfrm>
            <a:off x="7495937" y="5179814"/>
            <a:ext cx="1686044" cy="186928"/>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E5E0DF"/>
              </a:buClr>
              <a:buSzPts val="1150"/>
              <a:buFont typeface="Overpass"/>
              <a:buNone/>
            </a:pPr>
            <a:r>
              <a:rPr b="1" i="0" lang="en-US" sz="1150" u="none" cap="none" strike="noStrike">
                <a:solidFill>
                  <a:srgbClr val="E5E0DF"/>
                </a:solidFill>
                <a:latin typeface="Overpass"/>
                <a:ea typeface="Overpass"/>
                <a:cs typeface="Overpass"/>
                <a:sym typeface="Overpass"/>
              </a:rPr>
              <a:t>Reinforcement Learning</a:t>
            </a:r>
            <a:endParaRPr b="0" i="0" sz="1150" u="none" cap="none" strike="noStrike"/>
          </a:p>
        </p:txBody>
      </p:sp>
      <p:sp>
        <p:nvSpPr>
          <p:cNvPr id="258" name="Google Shape;258;p20"/>
          <p:cNvSpPr/>
          <p:nvPr/>
        </p:nvSpPr>
        <p:spPr>
          <a:xfrm>
            <a:off x="7495937" y="5413058"/>
            <a:ext cx="4395668"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Applications:</a:t>
            </a:r>
            <a:r>
              <a:rPr b="0" i="0" lang="en-US" sz="1000" u="none" cap="none" strike="noStrike">
                <a:solidFill>
                  <a:srgbClr val="E5E0DF"/>
                </a:solidFill>
                <a:latin typeface="Overpass"/>
                <a:ea typeface="Overpass"/>
                <a:cs typeface="Overpass"/>
                <a:sym typeface="Overpass"/>
              </a:rPr>
              <a:t xml:space="preserve"> Treatment protocol optimization, algorithmic trading strategies, robotics control, game playing, resource allocation</a:t>
            </a:r>
            <a:endParaRPr b="0" i="0" sz="1000" u="none" cap="none" strike="noStrike"/>
          </a:p>
        </p:txBody>
      </p:sp>
      <p:sp>
        <p:nvSpPr>
          <p:cNvPr id="259" name="Google Shape;259;p20"/>
          <p:cNvSpPr/>
          <p:nvPr/>
        </p:nvSpPr>
        <p:spPr>
          <a:xfrm>
            <a:off x="7495937" y="5786318"/>
            <a:ext cx="4395668" cy="49041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How It Works:</a:t>
            </a:r>
            <a:r>
              <a:rPr b="0" i="0" lang="en-US" sz="1000" u="none" cap="none" strike="noStrike">
                <a:solidFill>
                  <a:srgbClr val="E5E0DF"/>
                </a:solidFill>
                <a:latin typeface="Overpass"/>
                <a:ea typeface="Overpass"/>
                <a:cs typeface="Overpass"/>
                <a:sym typeface="Overpass"/>
              </a:rPr>
              <a:t xml:space="preserve"> Agents learn optimal actions through trial-and-error interactions with environments, receiving rewards or penalties. Particularly powerful for sequential decision-making under uncertainty.</a:t>
            </a:r>
            <a:endParaRPr b="0" i="0" sz="1000" u="none" cap="none" strike="noStrike"/>
          </a:p>
        </p:txBody>
      </p:sp>
      <p:sp>
        <p:nvSpPr>
          <p:cNvPr id="260" name="Google Shape;260;p20"/>
          <p:cNvSpPr/>
          <p:nvPr/>
        </p:nvSpPr>
        <p:spPr>
          <a:xfrm>
            <a:off x="7495937" y="6323052"/>
            <a:ext cx="4395668" cy="3269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000"/>
              <a:buFont typeface="Overpass"/>
              <a:buNone/>
            </a:pPr>
            <a:r>
              <a:rPr b="1" i="0" lang="en-US" sz="1000" u="none" cap="none" strike="noStrike">
                <a:solidFill>
                  <a:srgbClr val="E5E0DF"/>
                </a:solidFill>
                <a:latin typeface="Overpass"/>
                <a:ea typeface="Overpass"/>
                <a:cs typeface="Overpass"/>
                <a:sym typeface="Overpass"/>
              </a:rPr>
              <a:t>Common Approaches:</a:t>
            </a:r>
            <a:r>
              <a:rPr b="0" i="0" lang="en-US" sz="1000" u="none" cap="none" strike="noStrike">
                <a:solidFill>
                  <a:srgbClr val="E5E0DF"/>
                </a:solidFill>
                <a:latin typeface="Overpass"/>
                <a:ea typeface="Overpass"/>
                <a:cs typeface="Overpass"/>
                <a:sym typeface="Overpass"/>
              </a:rPr>
              <a:t xml:space="preserve"> Q-learning, deep Q-networks (DQN), policy gradients, actor-critic methods, proximal policy optimization</a:t>
            </a:r>
            <a:endParaRPr b="0" i="0" sz="10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p:nvPr/>
        </p:nvSpPr>
        <p:spPr>
          <a:xfrm>
            <a:off x="2720459" y="1156335"/>
            <a:ext cx="3493294" cy="364093"/>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FFFFFF"/>
              </a:buClr>
              <a:buSzPts val="2250"/>
              <a:buFont typeface="Overpass"/>
              <a:buNone/>
            </a:pPr>
            <a:r>
              <a:rPr b="1" i="0" lang="en-US" sz="2250" u="none" cap="none" strike="noStrike">
                <a:solidFill>
                  <a:srgbClr val="FFFFFF"/>
                </a:solidFill>
                <a:latin typeface="Overpass"/>
                <a:ea typeface="Overpass"/>
                <a:cs typeface="Overpass"/>
                <a:sym typeface="Overpass"/>
              </a:rPr>
              <a:t>The Future is Data-Driven</a:t>
            </a:r>
            <a:endParaRPr b="0" i="0" sz="2250" u="none" cap="none" strike="noStrike"/>
          </a:p>
        </p:txBody>
      </p:sp>
      <p:sp>
        <p:nvSpPr>
          <p:cNvPr id="267" name="Google Shape;267;p21"/>
          <p:cNvSpPr/>
          <p:nvPr/>
        </p:nvSpPr>
        <p:spPr>
          <a:xfrm>
            <a:off x="2720459" y="1666756"/>
            <a:ext cx="9189482" cy="472559"/>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Data science has evolved from a competitive advantage to a business necessity. Organizations that fail to integrate sophisticated analytics into their decision-making processes face existential threats from more agile, data-driven competitors. The transformation isn't limited to specific industries—it's fundamentally changing how all businesses operate, compete, and create value.</a:t>
            </a:r>
            <a:endParaRPr b="0" i="0" sz="950" u="none" cap="none" strike="noStrike"/>
          </a:p>
        </p:txBody>
      </p:sp>
      <p:sp>
        <p:nvSpPr>
          <p:cNvPr id="268" name="Google Shape;268;p21"/>
          <p:cNvSpPr/>
          <p:nvPr/>
        </p:nvSpPr>
        <p:spPr>
          <a:xfrm>
            <a:off x="2720459" y="3257550"/>
            <a:ext cx="9189482" cy="15240"/>
          </a:xfrm>
          <a:prstGeom prst="roundRect">
            <a:avLst>
              <a:gd fmla="val 341230" name="adj"/>
            </a:avLst>
          </a:prstGeom>
          <a:solidFill>
            <a:srgbClr val="971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1"/>
          <p:cNvSpPr/>
          <p:nvPr/>
        </p:nvSpPr>
        <p:spPr>
          <a:xfrm>
            <a:off x="4523184" y="2886254"/>
            <a:ext cx="15240" cy="371356"/>
          </a:xfrm>
          <a:prstGeom prst="roundRect">
            <a:avLst>
              <a:gd fmla="val 341230" name="adj"/>
            </a:avLst>
          </a:prstGeom>
          <a:solidFill>
            <a:srgbClr val="971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1"/>
          <p:cNvSpPr/>
          <p:nvPr/>
        </p:nvSpPr>
        <p:spPr>
          <a:xfrm>
            <a:off x="4391620" y="3118306"/>
            <a:ext cx="278487" cy="278487"/>
          </a:xfrm>
          <a:prstGeom prst="roundRect">
            <a:avLst>
              <a:gd fmla="val 18674"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1"/>
          <p:cNvSpPr/>
          <p:nvPr/>
        </p:nvSpPr>
        <p:spPr>
          <a:xfrm>
            <a:off x="4443413" y="3148251"/>
            <a:ext cx="174784" cy="218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1350"/>
              <a:buFont typeface="Overpass"/>
              <a:buNone/>
            </a:pPr>
            <a:r>
              <a:rPr b="1" i="0" lang="en-US" sz="1350" u="none" cap="none" strike="noStrike">
                <a:solidFill>
                  <a:srgbClr val="E5E0DF"/>
                </a:solidFill>
                <a:latin typeface="Overpass"/>
                <a:ea typeface="Overpass"/>
                <a:cs typeface="Overpass"/>
                <a:sym typeface="Overpass"/>
              </a:rPr>
              <a:t>1</a:t>
            </a:r>
            <a:endParaRPr b="0" i="0" sz="1350" u="none" cap="none" strike="noStrike"/>
          </a:p>
        </p:txBody>
      </p:sp>
      <p:sp>
        <p:nvSpPr>
          <p:cNvPr id="272" name="Google Shape;272;p21"/>
          <p:cNvSpPr/>
          <p:nvPr/>
        </p:nvSpPr>
        <p:spPr>
          <a:xfrm>
            <a:off x="3802618" y="2221587"/>
            <a:ext cx="1456611" cy="181928"/>
          </a:xfrm>
          <a:prstGeom prst="rect">
            <a:avLst/>
          </a:prstGeom>
          <a:noFill/>
          <a:ln>
            <a:noFill/>
          </a:ln>
        </p:spPr>
        <p:txBody>
          <a:bodyPr anchorCtr="0" anchor="t" bIns="0" lIns="0" spcFirstLastPara="1" rIns="0" wrap="square" tIns="0">
            <a:noAutofit/>
          </a:bodyPr>
          <a:lstStyle/>
          <a:p>
            <a:pPr indent="0" lvl="0" marL="0" marR="0" rtl="0" algn="ctr">
              <a:lnSpc>
                <a:spcPct val="127272"/>
              </a:lnSpc>
              <a:spcBef>
                <a:spcPts val="0"/>
              </a:spcBef>
              <a:spcAft>
                <a:spcPts val="0"/>
              </a:spcAft>
              <a:buClr>
                <a:srgbClr val="E5E0DF"/>
              </a:buClr>
              <a:buSzPts val="1100"/>
              <a:buFont typeface="Overpass"/>
              <a:buNone/>
            </a:pPr>
            <a:r>
              <a:rPr b="1" i="0" lang="en-US" sz="1100" u="none" cap="none" strike="noStrike">
                <a:solidFill>
                  <a:srgbClr val="E5E0DF"/>
                </a:solidFill>
                <a:latin typeface="Overpass"/>
                <a:ea typeface="Overpass"/>
                <a:cs typeface="Overpass"/>
                <a:sym typeface="Overpass"/>
              </a:rPr>
              <a:t>2015-2018</a:t>
            </a:r>
            <a:endParaRPr b="0" i="0" sz="1100" u="none" cap="none" strike="noStrike"/>
          </a:p>
        </p:txBody>
      </p:sp>
      <p:sp>
        <p:nvSpPr>
          <p:cNvPr id="273" name="Google Shape;273;p21"/>
          <p:cNvSpPr/>
          <p:nvPr/>
        </p:nvSpPr>
        <p:spPr>
          <a:xfrm>
            <a:off x="2844165" y="2447330"/>
            <a:ext cx="3373517" cy="157520"/>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Early adopters prove concept viability with pilot projects</a:t>
            </a:r>
            <a:endParaRPr b="0" i="0" sz="950" u="none" cap="none" strike="noStrike"/>
          </a:p>
        </p:txBody>
      </p:sp>
      <p:sp>
        <p:nvSpPr>
          <p:cNvPr id="274" name="Google Shape;274;p21"/>
          <p:cNvSpPr/>
          <p:nvPr/>
        </p:nvSpPr>
        <p:spPr>
          <a:xfrm>
            <a:off x="6379369" y="3257490"/>
            <a:ext cx="15240" cy="371356"/>
          </a:xfrm>
          <a:prstGeom prst="roundRect">
            <a:avLst>
              <a:gd fmla="val 341230" name="adj"/>
            </a:avLst>
          </a:prstGeom>
          <a:solidFill>
            <a:srgbClr val="971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
          <p:cNvSpPr/>
          <p:nvPr/>
        </p:nvSpPr>
        <p:spPr>
          <a:xfrm>
            <a:off x="6247805" y="3118306"/>
            <a:ext cx="278487" cy="278487"/>
          </a:xfrm>
          <a:prstGeom prst="roundRect">
            <a:avLst>
              <a:gd fmla="val 18674"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1"/>
          <p:cNvSpPr/>
          <p:nvPr/>
        </p:nvSpPr>
        <p:spPr>
          <a:xfrm>
            <a:off x="6299597" y="3148251"/>
            <a:ext cx="174784" cy="218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1350"/>
              <a:buFont typeface="Overpass"/>
              <a:buNone/>
            </a:pPr>
            <a:r>
              <a:rPr b="1" i="0" lang="en-US" sz="1350" u="none" cap="none" strike="noStrike">
                <a:solidFill>
                  <a:srgbClr val="E5E0DF"/>
                </a:solidFill>
                <a:latin typeface="Overpass"/>
                <a:ea typeface="Overpass"/>
                <a:cs typeface="Overpass"/>
                <a:sym typeface="Overpass"/>
              </a:rPr>
              <a:t>2</a:t>
            </a:r>
            <a:endParaRPr b="0" i="0" sz="1350" u="none" cap="none" strike="noStrike"/>
          </a:p>
        </p:txBody>
      </p:sp>
      <p:sp>
        <p:nvSpPr>
          <p:cNvPr id="277" name="Google Shape;277;p21"/>
          <p:cNvSpPr/>
          <p:nvPr/>
        </p:nvSpPr>
        <p:spPr>
          <a:xfrm>
            <a:off x="5658803" y="3752731"/>
            <a:ext cx="1456611" cy="181928"/>
          </a:xfrm>
          <a:prstGeom prst="rect">
            <a:avLst/>
          </a:prstGeom>
          <a:noFill/>
          <a:ln>
            <a:noFill/>
          </a:ln>
        </p:spPr>
        <p:txBody>
          <a:bodyPr anchorCtr="0" anchor="t" bIns="0" lIns="0" spcFirstLastPara="1" rIns="0" wrap="square" tIns="0">
            <a:noAutofit/>
          </a:bodyPr>
          <a:lstStyle/>
          <a:p>
            <a:pPr indent="0" lvl="0" marL="0" marR="0" rtl="0" algn="ctr">
              <a:lnSpc>
                <a:spcPct val="127272"/>
              </a:lnSpc>
              <a:spcBef>
                <a:spcPts val="0"/>
              </a:spcBef>
              <a:spcAft>
                <a:spcPts val="0"/>
              </a:spcAft>
              <a:buClr>
                <a:srgbClr val="E5E0DF"/>
              </a:buClr>
              <a:buSzPts val="1100"/>
              <a:buFont typeface="Overpass"/>
              <a:buNone/>
            </a:pPr>
            <a:r>
              <a:rPr b="1" i="0" lang="en-US" sz="1100" u="none" cap="none" strike="noStrike">
                <a:solidFill>
                  <a:srgbClr val="E5E0DF"/>
                </a:solidFill>
                <a:latin typeface="Overpass"/>
                <a:ea typeface="Overpass"/>
                <a:cs typeface="Overpass"/>
                <a:sym typeface="Overpass"/>
              </a:rPr>
              <a:t>2019-2021</a:t>
            </a:r>
            <a:endParaRPr b="0" i="0" sz="1100" u="none" cap="none" strike="noStrike"/>
          </a:p>
        </p:txBody>
      </p:sp>
      <p:sp>
        <p:nvSpPr>
          <p:cNvPr id="278" name="Google Shape;278;p21"/>
          <p:cNvSpPr/>
          <p:nvPr/>
        </p:nvSpPr>
        <p:spPr>
          <a:xfrm>
            <a:off x="4700349" y="3978473"/>
            <a:ext cx="3373517" cy="315039"/>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Scaling phase as organizations deploy enterprise-wide platforms</a:t>
            </a:r>
            <a:endParaRPr b="0" i="0" sz="950" u="none" cap="none" strike="noStrike"/>
          </a:p>
        </p:txBody>
      </p:sp>
      <p:sp>
        <p:nvSpPr>
          <p:cNvPr id="279" name="Google Shape;279;p21"/>
          <p:cNvSpPr/>
          <p:nvPr/>
        </p:nvSpPr>
        <p:spPr>
          <a:xfrm>
            <a:off x="8235553" y="2886254"/>
            <a:ext cx="15240" cy="371356"/>
          </a:xfrm>
          <a:prstGeom prst="roundRect">
            <a:avLst>
              <a:gd fmla="val 341230" name="adj"/>
            </a:avLst>
          </a:prstGeom>
          <a:solidFill>
            <a:srgbClr val="971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1"/>
          <p:cNvSpPr/>
          <p:nvPr/>
        </p:nvSpPr>
        <p:spPr>
          <a:xfrm>
            <a:off x="8103989" y="3118306"/>
            <a:ext cx="278487" cy="278487"/>
          </a:xfrm>
          <a:prstGeom prst="roundRect">
            <a:avLst>
              <a:gd fmla="val 18674"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1"/>
          <p:cNvSpPr/>
          <p:nvPr/>
        </p:nvSpPr>
        <p:spPr>
          <a:xfrm>
            <a:off x="8155781" y="3148251"/>
            <a:ext cx="174784" cy="218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1350"/>
              <a:buFont typeface="Overpass"/>
              <a:buNone/>
            </a:pPr>
            <a:r>
              <a:rPr b="1" i="0" lang="en-US" sz="1350" u="none" cap="none" strike="noStrike">
                <a:solidFill>
                  <a:srgbClr val="E5E0DF"/>
                </a:solidFill>
                <a:latin typeface="Overpass"/>
                <a:ea typeface="Overpass"/>
                <a:cs typeface="Overpass"/>
                <a:sym typeface="Overpass"/>
              </a:rPr>
              <a:t>3</a:t>
            </a:r>
            <a:endParaRPr b="0" i="0" sz="1350" u="none" cap="none" strike="noStrike"/>
          </a:p>
        </p:txBody>
      </p:sp>
      <p:sp>
        <p:nvSpPr>
          <p:cNvPr id="282" name="Google Shape;282;p21"/>
          <p:cNvSpPr/>
          <p:nvPr/>
        </p:nvSpPr>
        <p:spPr>
          <a:xfrm>
            <a:off x="7514987" y="2221587"/>
            <a:ext cx="1456611" cy="181928"/>
          </a:xfrm>
          <a:prstGeom prst="rect">
            <a:avLst/>
          </a:prstGeom>
          <a:noFill/>
          <a:ln>
            <a:noFill/>
          </a:ln>
        </p:spPr>
        <p:txBody>
          <a:bodyPr anchorCtr="0" anchor="t" bIns="0" lIns="0" spcFirstLastPara="1" rIns="0" wrap="square" tIns="0">
            <a:noAutofit/>
          </a:bodyPr>
          <a:lstStyle/>
          <a:p>
            <a:pPr indent="0" lvl="0" marL="0" marR="0" rtl="0" algn="ctr">
              <a:lnSpc>
                <a:spcPct val="127272"/>
              </a:lnSpc>
              <a:spcBef>
                <a:spcPts val="0"/>
              </a:spcBef>
              <a:spcAft>
                <a:spcPts val="0"/>
              </a:spcAft>
              <a:buClr>
                <a:srgbClr val="E5E0DF"/>
              </a:buClr>
              <a:buSzPts val="1100"/>
              <a:buFont typeface="Overpass"/>
              <a:buNone/>
            </a:pPr>
            <a:r>
              <a:rPr b="1" i="0" lang="en-US" sz="1100" u="none" cap="none" strike="noStrike">
                <a:solidFill>
                  <a:srgbClr val="E5E0DF"/>
                </a:solidFill>
                <a:latin typeface="Overpass"/>
                <a:ea typeface="Overpass"/>
                <a:cs typeface="Overpass"/>
                <a:sym typeface="Overpass"/>
              </a:rPr>
              <a:t>2022-2024</a:t>
            </a:r>
            <a:endParaRPr b="0" i="0" sz="1100" u="none" cap="none" strike="noStrike"/>
          </a:p>
        </p:txBody>
      </p:sp>
      <p:sp>
        <p:nvSpPr>
          <p:cNvPr id="283" name="Google Shape;283;p21"/>
          <p:cNvSpPr/>
          <p:nvPr/>
        </p:nvSpPr>
        <p:spPr>
          <a:xfrm>
            <a:off x="6556534" y="2447330"/>
            <a:ext cx="3373517" cy="315039"/>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Maturation with measurable ROI and integration into core operations</a:t>
            </a:r>
            <a:endParaRPr b="0" i="0" sz="950" u="none" cap="none" strike="noStrike"/>
          </a:p>
        </p:txBody>
      </p:sp>
      <p:sp>
        <p:nvSpPr>
          <p:cNvPr id="284" name="Google Shape;284;p21"/>
          <p:cNvSpPr/>
          <p:nvPr/>
        </p:nvSpPr>
        <p:spPr>
          <a:xfrm>
            <a:off x="10091737" y="3257490"/>
            <a:ext cx="15240" cy="371356"/>
          </a:xfrm>
          <a:prstGeom prst="roundRect">
            <a:avLst>
              <a:gd fmla="val 341230" name="adj"/>
            </a:avLst>
          </a:prstGeom>
          <a:solidFill>
            <a:srgbClr val="971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1"/>
          <p:cNvSpPr/>
          <p:nvPr/>
        </p:nvSpPr>
        <p:spPr>
          <a:xfrm>
            <a:off x="9960173" y="3118306"/>
            <a:ext cx="278487" cy="278487"/>
          </a:xfrm>
          <a:prstGeom prst="roundRect">
            <a:avLst>
              <a:gd fmla="val 18674"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1"/>
          <p:cNvSpPr/>
          <p:nvPr/>
        </p:nvSpPr>
        <p:spPr>
          <a:xfrm>
            <a:off x="10011966" y="3148251"/>
            <a:ext cx="174784" cy="218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1350"/>
              <a:buFont typeface="Overpass"/>
              <a:buNone/>
            </a:pPr>
            <a:r>
              <a:rPr b="1" i="0" lang="en-US" sz="1350" u="none" cap="none" strike="noStrike">
                <a:solidFill>
                  <a:srgbClr val="E5E0DF"/>
                </a:solidFill>
                <a:latin typeface="Overpass"/>
                <a:ea typeface="Overpass"/>
                <a:cs typeface="Overpass"/>
                <a:sym typeface="Overpass"/>
              </a:rPr>
              <a:t>4</a:t>
            </a:r>
            <a:endParaRPr b="0" i="0" sz="1350" u="none" cap="none" strike="noStrike"/>
          </a:p>
        </p:txBody>
      </p:sp>
      <p:sp>
        <p:nvSpPr>
          <p:cNvPr id="287" name="Google Shape;287;p21"/>
          <p:cNvSpPr/>
          <p:nvPr/>
        </p:nvSpPr>
        <p:spPr>
          <a:xfrm>
            <a:off x="9371171" y="3752731"/>
            <a:ext cx="1456611" cy="181928"/>
          </a:xfrm>
          <a:prstGeom prst="rect">
            <a:avLst/>
          </a:prstGeom>
          <a:noFill/>
          <a:ln>
            <a:noFill/>
          </a:ln>
        </p:spPr>
        <p:txBody>
          <a:bodyPr anchorCtr="0" anchor="t" bIns="0" lIns="0" spcFirstLastPara="1" rIns="0" wrap="square" tIns="0">
            <a:noAutofit/>
          </a:bodyPr>
          <a:lstStyle/>
          <a:p>
            <a:pPr indent="0" lvl="0" marL="0" marR="0" rtl="0" algn="ctr">
              <a:lnSpc>
                <a:spcPct val="127272"/>
              </a:lnSpc>
              <a:spcBef>
                <a:spcPts val="0"/>
              </a:spcBef>
              <a:spcAft>
                <a:spcPts val="0"/>
              </a:spcAft>
              <a:buClr>
                <a:srgbClr val="E5E0DF"/>
              </a:buClr>
              <a:buSzPts val="1100"/>
              <a:buFont typeface="Overpass"/>
              <a:buNone/>
            </a:pPr>
            <a:r>
              <a:rPr b="1" i="0" lang="en-US" sz="1100" u="none" cap="none" strike="noStrike">
                <a:solidFill>
                  <a:srgbClr val="E5E0DF"/>
                </a:solidFill>
                <a:latin typeface="Overpass"/>
                <a:ea typeface="Overpass"/>
                <a:cs typeface="Overpass"/>
                <a:sym typeface="Overpass"/>
              </a:rPr>
              <a:t>2025+</a:t>
            </a:r>
            <a:endParaRPr b="0" i="0" sz="1100" u="none" cap="none" strike="noStrike"/>
          </a:p>
        </p:txBody>
      </p:sp>
      <p:sp>
        <p:nvSpPr>
          <p:cNvPr id="288" name="Google Shape;288;p21"/>
          <p:cNvSpPr/>
          <p:nvPr/>
        </p:nvSpPr>
        <p:spPr>
          <a:xfrm>
            <a:off x="8412718" y="3978473"/>
            <a:ext cx="3373517" cy="315039"/>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Ubiquity as data-driven decision-making becomes table stakes</a:t>
            </a:r>
            <a:endParaRPr b="0" i="0" sz="950" u="none" cap="none" strike="noStrike"/>
          </a:p>
        </p:txBody>
      </p:sp>
      <p:sp>
        <p:nvSpPr>
          <p:cNvPr id="289" name="Google Shape;289;p21"/>
          <p:cNvSpPr/>
          <p:nvPr/>
        </p:nvSpPr>
        <p:spPr>
          <a:xfrm>
            <a:off x="2720459" y="4448889"/>
            <a:ext cx="2557582" cy="18192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FFFFF"/>
              </a:buClr>
              <a:buSzPts val="1100"/>
              <a:buFont typeface="Overpass"/>
              <a:buNone/>
            </a:pPr>
            <a:r>
              <a:rPr b="1" i="0" lang="en-US" sz="1100" u="none" cap="none" strike="noStrike">
                <a:solidFill>
                  <a:srgbClr val="FFFFFF"/>
                </a:solidFill>
                <a:latin typeface="Overpass"/>
                <a:ea typeface="Overpass"/>
                <a:cs typeface="Overpass"/>
                <a:sym typeface="Overpass"/>
              </a:rPr>
              <a:t>Compounding Competitive Advantage</a:t>
            </a:r>
            <a:endParaRPr b="0" i="0" sz="1100" u="none" cap="none" strike="noStrike"/>
          </a:p>
        </p:txBody>
      </p:sp>
      <p:sp>
        <p:nvSpPr>
          <p:cNvPr id="290" name="Google Shape;290;p21"/>
          <p:cNvSpPr/>
          <p:nvPr/>
        </p:nvSpPr>
        <p:spPr>
          <a:xfrm>
            <a:off x="2720459" y="4703921"/>
            <a:ext cx="5392817" cy="78759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Data science applications create compounding returns: each prediction improves models, each customer interaction generates training data, each optimization frees resources for further innovation. This creates a virtuous cycle where early movers pull ahead of competitors. McKinsey estimates that data-driven organizations are 23 times more likely to acquire customers, 6 times more likely to retain them, and 19 times more likely to be profitable.</a:t>
            </a:r>
            <a:endParaRPr b="0" i="0" sz="950" u="none" cap="none" strike="noStrike"/>
          </a:p>
        </p:txBody>
      </p:sp>
      <p:sp>
        <p:nvSpPr>
          <p:cNvPr id="291" name="Google Shape;291;p21"/>
          <p:cNvSpPr/>
          <p:nvPr/>
        </p:nvSpPr>
        <p:spPr>
          <a:xfrm>
            <a:off x="8422838" y="4448889"/>
            <a:ext cx="1867733" cy="18192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FFFFF"/>
              </a:buClr>
              <a:buSzPts val="1100"/>
              <a:buFont typeface="Overpass"/>
              <a:buNone/>
            </a:pPr>
            <a:r>
              <a:rPr b="1" i="0" lang="en-US" sz="1100" u="none" cap="none" strike="noStrike">
                <a:solidFill>
                  <a:srgbClr val="FFFFFF"/>
                </a:solidFill>
                <a:latin typeface="Overpass"/>
                <a:ea typeface="Overpass"/>
                <a:cs typeface="Overpass"/>
                <a:sym typeface="Overpass"/>
              </a:rPr>
              <a:t>Operational Transformation</a:t>
            </a:r>
            <a:endParaRPr b="0" i="0" sz="1100" u="none" cap="none" strike="noStrike"/>
          </a:p>
        </p:txBody>
      </p:sp>
      <p:sp>
        <p:nvSpPr>
          <p:cNvPr id="292" name="Google Shape;292;p21"/>
          <p:cNvSpPr/>
          <p:nvPr/>
        </p:nvSpPr>
        <p:spPr>
          <a:xfrm>
            <a:off x="8422838" y="4703921"/>
            <a:ext cx="3494603" cy="78759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The integration of data science across industries is fundamentally transforming operations: predictive maintenance replacing reactive repairs, dynamic pricing replacing fixed markups, personalized medicine replacing one-size-fits-all treatments.</a:t>
            </a:r>
            <a:endParaRPr b="0" i="0" sz="950" u="none" cap="none" strike="noStrike"/>
          </a:p>
        </p:txBody>
      </p:sp>
      <p:sp>
        <p:nvSpPr>
          <p:cNvPr id="293" name="Google Shape;293;p21"/>
          <p:cNvSpPr/>
          <p:nvPr/>
        </p:nvSpPr>
        <p:spPr>
          <a:xfrm>
            <a:off x="2720459" y="5639633"/>
            <a:ext cx="3014424" cy="1433512"/>
          </a:xfrm>
          <a:prstGeom prst="roundRect">
            <a:avLst>
              <a:gd fmla="val 3628"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1"/>
          <p:cNvSpPr/>
          <p:nvPr/>
        </p:nvSpPr>
        <p:spPr>
          <a:xfrm>
            <a:off x="2851785" y="5770959"/>
            <a:ext cx="1944291" cy="18192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5E0DF"/>
              </a:buClr>
              <a:buSzPts val="1100"/>
              <a:buFont typeface="Overpass"/>
              <a:buNone/>
            </a:pPr>
            <a:r>
              <a:rPr b="1" i="0" lang="en-US" sz="1100" u="none" cap="none" strike="noStrike">
                <a:solidFill>
                  <a:srgbClr val="E5E0DF"/>
                </a:solidFill>
                <a:latin typeface="Overpass"/>
                <a:ea typeface="Overpass"/>
                <a:cs typeface="Overpass"/>
                <a:sym typeface="Overpass"/>
              </a:rPr>
              <a:t>Continuous Learning Culture</a:t>
            </a:r>
            <a:endParaRPr b="0" i="0" sz="1100" u="none" cap="none" strike="noStrike"/>
          </a:p>
        </p:txBody>
      </p:sp>
      <p:sp>
        <p:nvSpPr>
          <p:cNvPr id="295" name="Google Shape;295;p21"/>
          <p:cNvSpPr/>
          <p:nvPr/>
        </p:nvSpPr>
        <p:spPr>
          <a:xfrm>
            <a:off x="2851785" y="5996702"/>
            <a:ext cx="2751773" cy="78759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Organizations treat analytics as living systems that improve continuously rather than static reports. Model monitoring, retraining pipelines, and experimentation frameworks (A/B testing, multi-armed bandits) become standard practice.</a:t>
            </a:r>
            <a:endParaRPr b="0" i="0" sz="950" u="none" cap="none" strike="noStrike"/>
          </a:p>
        </p:txBody>
      </p:sp>
      <p:sp>
        <p:nvSpPr>
          <p:cNvPr id="296" name="Google Shape;296;p21"/>
          <p:cNvSpPr/>
          <p:nvPr/>
        </p:nvSpPr>
        <p:spPr>
          <a:xfrm>
            <a:off x="5807988" y="5639633"/>
            <a:ext cx="3014424" cy="1433512"/>
          </a:xfrm>
          <a:prstGeom prst="roundRect">
            <a:avLst>
              <a:gd fmla="val 3628"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p:nvPr/>
        </p:nvSpPr>
        <p:spPr>
          <a:xfrm>
            <a:off x="5939314" y="5770959"/>
            <a:ext cx="1465302" cy="18192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5E0DF"/>
              </a:buClr>
              <a:buSzPts val="1100"/>
              <a:buFont typeface="Overpass"/>
              <a:buNone/>
            </a:pPr>
            <a:r>
              <a:rPr b="1" i="0" lang="en-US" sz="1100" u="none" cap="none" strike="noStrike">
                <a:solidFill>
                  <a:srgbClr val="E5E0DF"/>
                </a:solidFill>
                <a:latin typeface="Overpass"/>
                <a:ea typeface="Overpass"/>
                <a:cs typeface="Overpass"/>
                <a:sym typeface="Overpass"/>
              </a:rPr>
              <a:t>Democratized Access</a:t>
            </a:r>
            <a:endParaRPr b="0" i="0" sz="1100" u="none" cap="none" strike="noStrike"/>
          </a:p>
        </p:txBody>
      </p:sp>
      <p:sp>
        <p:nvSpPr>
          <p:cNvPr id="298" name="Google Shape;298;p21"/>
          <p:cNvSpPr/>
          <p:nvPr/>
        </p:nvSpPr>
        <p:spPr>
          <a:xfrm>
            <a:off x="5939314" y="5996702"/>
            <a:ext cx="2751773" cy="94511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Self-service analytics platforms and automated machine learning (AutoML) tools enable business users to generate insights without data science degrees, accelerating decision cycles and reducing dependency on centralized analytics teams.</a:t>
            </a:r>
            <a:endParaRPr b="0" i="0" sz="950" u="none" cap="none" strike="noStrike"/>
          </a:p>
        </p:txBody>
      </p:sp>
      <p:sp>
        <p:nvSpPr>
          <p:cNvPr id="299" name="Google Shape;299;p21"/>
          <p:cNvSpPr/>
          <p:nvPr/>
        </p:nvSpPr>
        <p:spPr>
          <a:xfrm>
            <a:off x="8895517" y="5639633"/>
            <a:ext cx="3014424" cy="1433512"/>
          </a:xfrm>
          <a:prstGeom prst="roundRect">
            <a:avLst>
              <a:gd fmla="val 3628" name="adj"/>
            </a:avLst>
          </a:prstGeom>
          <a:solidFill>
            <a:srgbClr val="7E023C"/>
          </a:solidFill>
          <a:ln cap="flat" cmpd="sng" w="9525">
            <a:solidFill>
              <a:srgbClr val="971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1"/>
          <p:cNvSpPr/>
          <p:nvPr/>
        </p:nvSpPr>
        <p:spPr>
          <a:xfrm>
            <a:off x="9026843" y="5770959"/>
            <a:ext cx="1524953" cy="18192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5E0DF"/>
              </a:buClr>
              <a:buSzPts val="1100"/>
              <a:buFont typeface="Overpass"/>
              <a:buNone/>
            </a:pPr>
            <a:r>
              <a:rPr b="1" i="0" lang="en-US" sz="1100" u="none" cap="none" strike="noStrike">
                <a:solidFill>
                  <a:srgbClr val="E5E0DF"/>
                </a:solidFill>
                <a:latin typeface="Overpass"/>
                <a:ea typeface="Overpass"/>
                <a:cs typeface="Overpass"/>
                <a:sym typeface="Overpass"/>
              </a:rPr>
              <a:t>Real-Time Decisioning</a:t>
            </a:r>
            <a:endParaRPr b="0" i="0" sz="1100" u="none" cap="none" strike="noStrike"/>
          </a:p>
        </p:txBody>
      </p:sp>
      <p:sp>
        <p:nvSpPr>
          <p:cNvPr id="301" name="Google Shape;301;p21"/>
          <p:cNvSpPr/>
          <p:nvPr/>
        </p:nvSpPr>
        <p:spPr>
          <a:xfrm>
            <a:off x="9026843" y="5996702"/>
            <a:ext cx="2751773" cy="78759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950"/>
              <a:buFont typeface="Overpass"/>
              <a:buNone/>
            </a:pPr>
            <a:r>
              <a:rPr b="0" i="0" lang="en-US" sz="950" u="none" cap="none" strike="noStrike">
                <a:solidFill>
                  <a:srgbClr val="E5E0DF"/>
                </a:solidFill>
                <a:latin typeface="Overpass"/>
                <a:ea typeface="Overpass"/>
                <a:cs typeface="Overpass"/>
                <a:sym typeface="Overpass"/>
              </a:rPr>
              <a:t>Streaming analytics and online machine learning enable decisions at the moment of customer interaction rather than days later in reports. This transforms reactive business processes into proactive, optimized experiences.</a:t>
            </a:r>
            <a:endParaRPr b="0" i="0" sz="9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